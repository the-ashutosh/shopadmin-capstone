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14e0e4a-6149-4425-6a81-74df48910a02}">
          <p14:sldIdLst>
            <p14:sldId id="256"/>
            <p14:sldId id="257"/>
            <p14:sldId id="258"/>
          </p14:sldIdLst>
        </p14:section>
        <p14:section name="How it works" id="{c536a73f-eb35-0227-ac31-8e4f4d1fc671}">
          <p14:sldIdLst>
            <p14:sldId id="259"/>
            <p14:sldId id="260"/>
            <p14:sldId id="261"/>
            <p14:sldId id="262"/>
          </p14:sldIdLst>
        </p14:section>
        <p14:section name="In the cloud" id="{cf075207-c41a-794d-7c91-9b16b99679bc}">
          <p14:sldIdLst>
            <p14:sldId id="263"/>
            <p14:sldId id="264"/>
            <p14:sldId id="265"/>
          </p14:sldIdLst>
        </p14:section>
        <p14:section name="Wrap-up" id="{e9e53d4e-2258-4398-abd5-8a8373ff91c4}">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Ashutosh. ShopAdmin is a small admin panel for an online shop. The app is simple on purpose - the interesting part is how it gets from my laptop to the internet without me doing anything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it does: add and edit products, show what's running low, and find things quickly. Under the hood it's a React website, a Python API and a PostgreSQL database - but the rest of the talk is about how it gets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Doing releases by hand is slow, it's easy to forget a step, and something that works on my machine can break on a server. So the goal of the project was: make the computer do all of that for me, the same way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on one slide. I push a change to GitHub. GitHub Actions runs the tests and a security scan, Docker packs the app, it goes to Kubernetes in the cloud, and Grafana shows me how it's doing. About three minutes, no clicking.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tests check the important things the app does. Then a security scanner called Trivy looks for known problems. If anything fails, nothing goes live. Here's a real run - all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Docker. Instead of setting up the database and the app by hand, everything is packed into containers. One command, docker compose up, and the whole app is running - here it is on my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packed version is saved on GitHub's registry, labelled with the ID of the change it came from. So I always know exactly what's running, and rolling back is just picking an older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cloud part is written as code with Terraform - think of it as a recipe. It built a private network and a Kubernetes cluster on AWS in Mumbai in about 12 minutes. After taking these screenshots I ran the same recipe in reverse and everything was removed. Total cost: under 20 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Kubernetes. It keeps two copies of the app running all the time. During a load test the autoscaler noticed the CPU going up and added copies until there were five, then scaled back down when the test stopped.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Prometheus collects numbers from the app and Grafana draws them. You can see the traffic spike from the load test, response time staying low, no errors, and the number of copies going up to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Let machines do the repetitive work. Keep and label every version. And treat the cloud like a taxi meter - only run it while you need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the demo I'll change some text in the app, push it, and we'll watch the pipeline check it, pack it and deploy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5760720" cy="12801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246120"/>
            <a:ext cx="5486400" cy="1188720"/>
          </a:xfrm>
          <a:prstGeom prst="rect">
            <a:avLst/>
          </a:prstGeom>
          <a:noFill/>
          <a:ln/>
        </p:spPr>
        <p:txBody>
          <a:bodyPr wrap="square" rtlCol="0"/>
          <a:lstStyle>
            <a:lvl1pPr algn="l" indent="0" marL="0">
              <a:buNone/>
              <a:defRPr lang="en-US" sz="2200" dirty="0">
                <a:solidFill>
                  <a:schemeClr val="accent5"/>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2606040"/>
            <a:ext cx="9445752" cy="1005840"/>
          </a:xfrm>
          <a:prstGeom prst="rect">
            <a:avLst/>
          </a:prstGeom>
          <a:noFill/>
          <a:ln/>
        </p:spPr>
        <p:txBody>
          <a:bodyPr wrap="square" rtlCol="0"/>
          <a:lstStyle>
            <a:lvl1pPr algn="ctr" indent="0" marL="0">
              <a:buNone/>
              <a:defRPr lang="en-US" sz="5600" b="1" dirty="0">
                <a:solidFill>
                  <a:schemeClr val="bg1"/>
                </a:solidFill>
              </a:defRPr>
            </a:lvl1pPr>
          </a:lstStyle>
          <a:p>
            <a:pPr algn="ctr" indent="0" marL="0">
              <a:buNone/>
            </a:pPr>
            <a:endParaRPr lang="en-US" sz="5600" dirty="0"/>
          </a:p>
        </p:txBody>
      </p:sp>
      <p:sp>
        <p:nvSpPr>
          <p:cNvPr id="3" name="Text 0"/>
          <p:cNvSpPr/>
          <p:nvPr>
            <p:ph idx="101" type="body" hasCustomPrompt="1"/>
          </p:nvPr>
        </p:nvSpPr>
        <p:spPr>
          <a:xfrm>
            <a:off x="1371600" y="3749040"/>
            <a:ext cx="9445752" cy="548640"/>
          </a:xfrm>
          <a:prstGeom prst="rect">
            <a:avLst/>
          </a:prstGeom>
          <a:noFill/>
          <a:ln/>
        </p:spPr>
        <p:txBody>
          <a:bodyPr wrap="square" rtlCol="0"/>
          <a:lstStyle>
            <a:lvl1pPr algn="ctr" indent="0" marL="0">
              <a:buNone/>
              <a:defRPr lang="en-US" sz="2100" dirty="0">
                <a:solidFill>
                  <a:schemeClr val="accent5"/>
                </a:solidFill>
              </a:defRPr>
            </a:lvl1pPr>
          </a:lstStyle>
          <a:p>
            <a:pPr algn="ctr" indent="0" marL="0">
              <a:buNone/>
            </a:pPr>
            <a:endParaRPr lang="en-US" sz="2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3.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17320"/>
            <a:ext cx="5486400" cy="320040"/>
          </a:xfrm>
          <a:prstGeom prst="rect">
            <a:avLst/>
          </a:prstGeom>
          <a:noFill/>
          <a:ln/>
        </p:spPr>
        <p:txBody>
          <a:bodyPr wrap="square" lIns="0" tIns="0" rIns="0" bIns="0" rtlCol="0" anchor="t"/>
          <a:lstStyle/>
          <a:p>
            <a:pPr indent="0" marL="0">
              <a:buNone/>
            </a:pPr>
            <a:r>
              <a:rPr lang="en-US" sz="1300" b="1" spc="200" kern="0" dirty="0">
                <a:solidFill>
                  <a:schemeClr val="accent4"/>
                </a:solidFill>
              </a:rPr>
              <a:t>DEVOPS CAPSTONE</a:t>
            </a:r>
            <a:endParaRPr lang="en-US" sz="1300" dirty="0"/>
          </a:p>
        </p:txBody>
      </p:sp>
      <p:sp>
        <p:nvSpPr>
          <p:cNvPr id="3" name="Text 0"/>
          <p:cNvSpPr/>
          <p:nvPr>
            <p:ph idx="100" type="title" hasCustomPrompt="1"/>
          </p:nvPr>
        </p:nvSpPr>
        <p:spPr>
          <a:xfrm>
            <a:off x="731520" y="1828800"/>
            <a:ext cx="5760720" cy="1280160"/>
          </a:xfrm>
          <a:prstGeom prst="rect">
            <a:avLst/>
          </a:prstGeom>
          <a:noFill/>
          <a:ln/>
        </p:spPr>
        <p:txBody>
          <a:bodyPr wrap="square" lIns="0" tIns="0" rIns="0" bIns="0" rtlCol="0" anchor="ctr"/>
          <a:lstStyle/>
          <a:p>
            <a:pPr algn="l" indent="0" marL="0">
              <a:buNone/>
            </a:pPr>
            <a:r>
              <a:rPr lang="en-US" sz="6000" b="1" dirty="0">
                <a:solidFill>
                  <a:schemeClr val="bg1"/>
                </a:solidFill>
              </a:rPr>
              <a:t>ShopAdmin</a:t>
            </a:r>
            <a:endParaRPr lang="en-US" sz="6000" dirty="0"/>
          </a:p>
        </p:txBody>
      </p:sp>
      <p:sp>
        <p:nvSpPr>
          <p:cNvPr id="4" name="Text 0"/>
          <p:cNvSpPr/>
          <p:nvPr>
            <p:ph idx="101" type="body" hasCustomPrompt="1"/>
          </p:nvPr>
        </p:nvSpPr>
        <p:spPr>
          <a:xfrm>
            <a:off x="731520" y="3246120"/>
            <a:ext cx="5486400" cy="1188720"/>
          </a:xfrm>
          <a:prstGeom prst="rect">
            <a:avLst/>
          </a:prstGeom>
          <a:noFill/>
          <a:ln/>
        </p:spPr>
        <p:txBody>
          <a:bodyPr wrap="square" lIns="0" tIns="0" rIns="0" bIns="0" rtlCol="0" anchor="t"/>
          <a:lstStyle/>
          <a:p>
            <a:pPr algn="l" indent="0" marL="0">
              <a:buNone/>
            </a:pPr>
            <a:r>
              <a:rPr lang="en-US" sz="2200" dirty="0">
                <a:solidFill>
                  <a:schemeClr val="accent5"/>
                </a:solidFill>
              </a:rPr>
              <a:t>How I built an app that checks, ships and watches itself.</a:t>
            </a:r>
            <a:endParaRPr lang="en-US" sz="2200" dirty="0"/>
          </a:p>
        </p:txBody>
      </p:sp>
      <p:sp>
        <p:nvSpPr>
          <p:cNvPr id="5" name="author"/>
          <p:cNvSpPr txBox="1"/>
          <p:nvPr/>
        </p:nvSpPr>
        <p:spPr>
          <a:xfrm>
            <a:off x="731520" y="5120640"/>
            <a:ext cx="5669280" cy="73152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Ashutosh Kumar  ·  24bcs10111</a:t>
            </a:r>
            <a:endParaRPr lang="en-US" sz="1600" dirty="0"/>
          </a:p>
          <a:p>
            <a:pPr indent="0" marL="0">
              <a:spcAft>
                <a:spcPts val="400"/>
              </a:spcAft>
              <a:buNone/>
            </a:pPr>
            <a:r>
              <a:rPr lang="en-US" sz="1300" dirty="0">
                <a:solidFill>
                  <a:schemeClr val="accent4"/>
                </a:solidFill>
              </a:rPr>
              <a:t>github.com/THE-ASHUTOSH/shopadmin-capstone</a:t>
            </a:r>
            <a:endParaRPr lang="en-US" sz="1600" dirty="0"/>
          </a:p>
        </p:txBody>
      </p:sp>
      <p:sp>
        <p:nvSpPr>
          <p:cNvPr id="6" name="card 01-app-ingress"/>
          <p:cNvSpPr/>
          <p:nvPr/>
        </p:nvSpPr>
        <p:spPr>
          <a:xfrm>
            <a:off x="6784848" y="1841373"/>
            <a:ext cx="4992624" cy="3175254"/>
          </a:xfrm>
          <a:prstGeom prst="roundRect">
            <a:avLst>
              <a:gd name="adj" fmla="val 2880"/>
            </a:avLst>
          </a:prstGeom>
          <a:solidFill>
            <a:schemeClr val="bg1"/>
          </a:solidFill>
          <a:ln w="12700">
            <a:solidFill>
              <a:schemeClr val="bg1"/>
            </a:solidFill>
            <a:prstDash val="solid"/>
          </a:ln>
          <a:effectLst>
            <a:outerShdw sx="100000" sy="100000" kx="0" ky="0" algn="bl" rotWithShape="0" blurRad="177800" dist="38100" dir="5400000">
              <a:srgbClr val="000000">
                <a:alpha val="14000"/>
              </a:srgbClr>
            </a:outerShdw>
          </a:effectLst>
        </p:spPr>
      </p:sp>
      <p:pic>
        <p:nvPicPr>
          <p:cNvPr id="7" name="screenshot 01-app-ingress" descr="app ingress">    </p:cNvPr>
          <p:cNvPicPr>
            <a:picLocks noChangeAspect="1"/>
          </p:cNvPicPr>
          <p:nvPr/>
        </p:nvPicPr>
        <p:blipFill>
          <a:blip r:embed="rId1"/>
          <a:stretch>
            <a:fillRect/>
          </a:stretch>
        </p:blipFill>
        <p:spPr>
          <a:xfrm>
            <a:off x="6858000" y="1914525"/>
            <a:ext cx="4846320" cy="3028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Meet ShopAdmin</a:t>
            </a:r>
            <a:endParaRPr lang="en-US" sz="3600" dirty="0"/>
          </a:p>
        </p:txBody>
      </p:sp>
      <p:sp>
        <p:nvSpPr>
          <p:cNvPr id="3" name="Text 1"/>
          <p:cNvSpPr txBox="1"/>
          <p:nvPr/>
        </p:nvSpPr>
        <p:spPr>
          <a:xfrm>
            <a:off x="548640" y="1417320"/>
            <a:ext cx="4572000" cy="731520"/>
          </a:xfrm>
          <a:prstGeom prst="rect">
            <a:avLst/>
          </a:prstGeom>
          <a:noFill/>
          <a:ln/>
        </p:spPr>
        <p:txBody>
          <a:bodyPr wrap="square" lIns="0" tIns="0" rIns="0" bIns="0" rtlCol="0" anchor="t"/>
          <a:lstStyle/>
          <a:p>
            <a:pPr indent="0" marL="0">
              <a:buNone/>
            </a:pPr>
            <a:r>
              <a:rPr lang="en-US" sz="2000" dirty="0">
                <a:solidFill>
                  <a:schemeClr val="tx1"/>
                </a:solidFill>
              </a:rPr>
              <a:t>A simple place to run a small online shop's stock.</a:t>
            </a:r>
            <a:endParaRPr lang="en-US" sz="2000" dirty="0"/>
          </a:p>
        </p:txBody>
      </p:sp>
      <p:sp>
        <p:nvSpPr>
          <p:cNvPr id="4" name="icon circle"/>
          <p:cNvSpPr/>
          <p:nvPr/>
        </p:nvSpPr>
        <p:spPr>
          <a:xfrm>
            <a:off x="548640" y="2331720"/>
            <a:ext cx="685800" cy="68580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33806" y="2516886"/>
            <a:ext cx="315468" cy="315468"/>
          </a:xfrm>
          <a:prstGeom prst="rect">
            <a:avLst/>
          </a:prstGeom>
        </p:spPr>
      </p:pic>
      <p:sp>
        <p:nvSpPr>
          <p:cNvPr id="6" name="Text 3"/>
          <p:cNvSpPr txBox="1"/>
          <p:nvPr/>
        </p:nvSpPr>
        <p:spPr>
          <a:xfrm>
            <a:off x="1463040" y="2286000"/>
            <a:ext cx="3657600" cy="822960"/>
          </a:xfrm>
          <a:prstGeom prst="rect">
            <a:avLst/>
          </a:prstGeom>
          <a:noFill/>
          <a:ln/>
        </p:spPr>
        <p:txBody>
          <a:bodyPr wrap="square" lIns="0" tIns="0" rIns="0" bIns="0" rtlCol="0" anchor="ctr"/>
          <a:lstStyle/>
          <a:p>
            <a:pPr indent="0" marL="0">
              <a:spcAft>
                <a:spcPts val="300"/>
              </a:spcAft>
              <a:buNone/>
            </a:pPr>
            <a:r>
              <a:rPr lang="en-US" sz="1800" b="1" dirty="0">
                <a:solidFill>
                  <a:schemeClr val="tx1"/>
                </a:solidFill>
              </a:rPr>
              <a:t>Add and edit products</a:t>
            </a:r>
            <a:endParaRPr lang="en-US" sz="1800" dirty="0"/>
          </a:p>
          <a:p>
            <a:pPr indent="0" marL="0">
              <a:spcAft>
                <a:spcPts val="300"/>
              </a:spcAft>
              <a:buNone/>
            </a:pPr>
            <a:r>
              <a:rPr lang="en-US" sz="1500" dirty="0">
                <a:solidFill>
                  <a:schemeClr val="tx2"/>
                </a:solidFill>
              </a:rPr>
              <a:t>Name, price and stock in a few clicks.</a:t>
            </a:r>
            <a:endParaRPr lang="en-US" sz="1800" dirty="0"/>
          </a:p>
        </p:txBody>
      </p:sp>
      <p:sp>
        <p:nvSpPr>
          <p:cNvPr id="7" name="icon circle"/>
          <p:cNvSpPr/>
          <p:nvPr/>
        </p:nvSpPr>
        <p:spPr>
          <a:xfrm>
            <a:off x="548640" y="3474720"/>
            <a:ext cx="685800" cy="685800"/>
          </a:xfrm>
          <a:prstGeom prst="ellipse">
            <a:avLst/>
          </a:prstGeom>
          <a:solidFill>
            <a:schemeClr val="accent1"/>
          </a:solidFill>
          <a:ln w="12700">
            <a:solidFill>
              <a:schemeClr val="accent1"/>
            </a:solidFill>
            <a:prstDash val="solid"/>
          </a:ln>
        </p:spPr>
      </p:sp>
      <p:pic>
        <p:nvPicPr>
          <p:cNvPr id="8" name="icon" descr="preencoded.png">    </p:cNvPr>
          <p:cNvPicPr>
            <a:picLocks noChangeAspect="1"/>
          </p:cNvPicPr>
          <p:nvPr/>
        </p:nvPicPr>
        <p:blipFill>
          <a:blip r:embed="rId2"/>
          <a:stretch>
            <a:fillRect/>
          </a:stretch>
        </p:blipFill>
        <p:spPr>
          <a:xfrm>
            <a:off x="733806" y="3659886"/>
            <a:ext cx="315468" cy="315468"/>
          </a:xfrm>
          <a:prstGeom prst="rect">
            <a:avLst/>
          </a:prstGeom>
        </p:spPr>
      </p:pic>
      <p:sp>
        <p:nvSpPr>
          <p:cNvPr id="9" name="Text 5"/>
          <p:cNvSpPr txBox="1"/>
          <p:nvPr/>
        </p:nvSpPr>
        <p:spPr>
          <a:xfrm>
            <a:off x="1463040" y="3429000"/>
            <a:ext cx="3657600" cy="822960"/>
          </a:xfrm>
          <a:prstGeom prst="rect">
            <a:avLst/>
          </a:prstGeom>
          <a:noFill/>
          <a:ln/>
        </p:spPr>
        <p:txBody>
          <a:bodyPr wrap="square" lIns="0" tIns="0" rIns="0" bIns="0" rtlCol="0" anchor="ctr"/>
          <a:lstStyle/>
          <a:p>
            <a:pPr indent="0" marL="0">
              <a:spcAft>
                <a:spcPts val="300"/>
              </a:spcAft>
              <a:buNone/>
            </a:pPr>
            <a:r>
              <a:rPr lang="en-US" sz="1800" b="1" dirty="0">
                <a:solidFill>
                  <a:schemeClr val="tx1"/>
                </a:solidFill>
              </a:rPr>
              <a:t>Spot what's running low</a:t>
            </a:r>
            <a:endParaRPr lang="en-US" sz="1800" dirty="0"/>
          </a:p>
          <a:p>
            <a:pPr indent="0" marL="0">
              <a:spcAft>
                <a:spcPts val="300"/>
              </a:spcAft>
              <a:buNone/>
            </a:pPr>
            <a:r>
              <a:rPr lang="en-US" sz="1500" dirty="0">
                <a:solidFill>
                  <a:schemeClr val="tx2"/>
                </a:solidFill>
              </a:rPr>
              <a:t>Low-stock items stand out in orange.</a:t>
            </a:r>
            <a:endParaRPr lang="en-US" sz="1800" dirty="0"/>
          </a:p>
        </p:txBody>
      </p:sp>
      <p:sp>
        <p:nvSpPr>
          <p:cNvPr id="10" name="icon circle"/>
          <p:cNvSpPr/>
          <p:nvPr/>
        </p:nvSpPr>
        <p:spPr>
          <a:xfrm>
            <a:off x="548640" y="4617720"/>
            <a:ext cx="685800" cy="685800"/>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3"/>
          <a:stretch>
            <a:fillRect/>
          </a:stretch>
        </p:blipFill>
        <p:spPr>
          <a:xfrm>
            <a:off x="733806" y="4802886"/>
            <a:ext cx="315468" cy="315468"/>
          </a:xfrm>
          <a:prstGeom prst="rect">
            <a:avLst/>
          </a:prstGeom>
        </p:spPr>
      </p:pic>
      <p:sp>
        <p:nvSpPr>
          <p:cNvPr id="12" name="Text 7"/>
          <p:cNvSpPr txBox="1"/>
          <p:nvPr/>
        </p:nvSpPr>
        <p:spPr>
          <a:xfrm>
            <a:off x="1463040" y="4572000"/>
            <a:ext cx="3657600" cy="822960"/>
          </a:xfrm>
          <a:prstGeom prst="rect">
            <a:avLst/>
          </a:prstGeom>
          <a:noFill/>
          <a:ln/>
        </p:spPr>
        <p:txBody>
          <a:bodyPr wrap="square" lIns="0" tIns="0" rIns="0" bIns="0" rtlCol="0" anchor="ctr"/>
          <a:lstStyle/>
          <a:p>
            <a:pPr indent="0" marL="0">
              <a:spcAft>
                <a:spcPts val="300"/>
              </a:spcAft>
              <a:buNone/>
            </a:pPr>
            <a:r>
              <a:rPr lang="en-US" sz="1800" b="1" dirty="0">
                <a:solidFill>
                  <a:schemeClr val="tx1"/>
                </a:solidFill>
              </a:rPr>
              <a:t>Find anything fast</a:t>
            </a:r>
            <a:endParaRPr lang="en-US" sz="1800" dirty="0"/>
          </a:p>
          <a:p>
            <a:pPr indent="0" marL="0">
              <a:spcAft>
                <a:spcPts val="300"/>
              </a:spcAft>
              <a:buNone/>
            </a:pPr>
            <a:r>
              <a:rPr lang="en-US" sz="1500" dirty="0">
                <a:solidFill>
                  <a:schemeClr val="tx2"/>
                </a:solidFill>
              </a:rPr>
              <a:t>Search by name or filter by category.</a:t>
            </a:r>
            <a:endParaRPr lang="en-US" sz="1800" dirty="0"/>
          </a:p>
        </p:txBody>
      </p:sp>
      <p:sp>
        <p:nvSpPr>
          <p:cNvPr id="13" name="card 01-app-ingress"/>
          <p:cNvSpPr/>
          <p:nvPr/>
        </p:nvSpPr>
        <p:spPr>
          <a:xfrm>
            <a:off x="5413248" y="1807083"/>
            <a:ext cx="6272784" cy="3975354"/>
          </a:xfrm>
          <a:prstGeom prst="roundRect">
            <a:avLst>
              <a:gd name="adj" fmla="val 2300"/>
            </a:avLst>
          </a:prstGeom>
          <a:solidFill>
            <a:schemeClr val="bg1"/>
          </a:solidFill>
          <a:ln w="12700">
            <a:solidFill>
              <a:schemeClr val="bg1"/>
            </a:solidFill>
            <a:prstDash val="solid"/>
          </a:ln>
          <a:effectLst>
            <a:outerShdw sx="100000" sy="100000" kx="0" ky="0" algn="bl" rotWithShape="0" blurRad="177800" dist="38100" dir="5400000">
              <a:srgbClr val="000000">
                <a:alpha val="14000"/>
              </a:srgbClr>
            </a:outerShdw>
          </a:effectLst>
        </p:spPr>
      </p:sp>
      <p:pic>
        <p:nvPicPr>
          <p:cNvPr id="14" name="screenshot 01-app-ingress" descr="app ingress">    </p:cNvPr>
          <p:cNvPicPr>
            <a:picLocks noChangeAspect="1"/>
          </p:cNvPicPr>
          <p:nvPr/>
        </p:nvPicPr>
        <p:blipFill>
          <a:blip r:embed="rId4"/>
          <a:stretch>
            <a:fillRect/>
          </a:stretch>
        </p:blipFill>
        <p:spPr>
          <a:xfrm>
            <a:off x="5486400" y="1880235"/>
            <a:ext cx="6126480" cy="3829050"/>
          </a:xfrm>
          <a:prstGeom prst="rect">
            <a:avLst/>
          </a:prstGeom>
        </p:spPr>
      </p:pic>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Why not just upload it by hand?</a:t>
            </a:r>
            <a:endParaRPr lang="en-US" sz="3600" dirty="0"/>
          </a:p>
        </p:txBody>
      </p:sp>
      <p:sp>
        <p:nvSpPr>
          <p:cNvPr id="3" name="why card"/>
          <p:cNvSpPr/>
          <p:nvPr/>
        </p:nvSpPr>
        <p:spPr>
          <a:xfrm>
            <a:off x="548640" y="1600200"/>
            <a:ext cx="3520440" cy="3291840"/>
          </a:xfrm>
          <a:prstGeom prst="roundRect">
            <a:avLst>
              <a:gd name="adj" fmla="val 3889"/>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4" name="icon circle"/>
          <p:cNvSpPr/>
          <p:nvPr/>
        </p:nvSpPr>
        <p:spPr>
          <a:xfrm>
            <a:off x="914400" y="1965960"/>
            <a:ext cx="777240" cy="77724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124255" y="2175815"/>
            <a:ext cx="357530" cy="357530"/>
          </a:xfrm>
          <a:prstGeom prst="rect">
            <a:avLst/>
          </a:prstGeom>
        </p:spPr>
      </p:pic>
      <p:sp>
        <p:nvSpPr>
          <p:cNvPr id="6" name="Text 3"/>
          <p:cNvSpPr txBox="1"/>
          <p:nvPr/>
        </p:nvSpPr>
        <p:spPr>
          <a:xfrm>
            <a:off x="914400" y="2971800"/>
            <a:ext cx="2834640" cy="731520"/>
          </a:xfrm>
          <a:prstGeom prst="rect">
            <a:avLst/>
          </a:prstGeom>
          <a:noFill/>
          <a:ln/>
        </p:spPr>
        <p:txBody>
          <a:bodyPr wrap="square" lIns="0" tIns="0" rIns="0" bIns="0" rtlCol="0" anchor="t"/>
          <a:lstStyle/>
          <a:p>
            <a:pPr indent="0" marL="0">
              <a:buNone/>
            </a:pPr>
            <a:r>
              <a:rPr lang="en-US" sz="2100" b="1" dirty="0">
                <a:solidFill>
                  <a:schemeClr val="tx1"/>
                </a:solidFill>
                <a:latin typeface="Georgia" pitchFamily="34" charset="0"/>
                <a:ea typeface="Georgia" pitchFamily="34" charset="-122"/>
                <a:cs typeface="Georgia" pitchFamily="34" charset="-120"/>
              </a:rPr>
              <a:t>It's slow</a:t>
            </a:r>
            <a:endParaRPr lang="en-US" sz="2100" dirty="0"/>
          </a:p>
        </p:txBody>
      </p:sp>
      <p:sp>
        <p:nvSpPr>
          <p:cNvPr id="7" name="Text 4"/>
          <p:cNvSpPr txBox="1"/>
          <p:nvPr/>
        </p:nvSpPr>
        <p:spPr>
          <a:xfrm>
            <a:off x="914400" y="3840480"/>
            <a:ext cx="2834640" cy="914400"/>
          </a:xfrm>
          <a:prstGeom prst="rect">
            <a:avLst/>
          </a:prstGeom>
          <a:noFill/>
          <a:ln/>
        </p:spPr>
        <p:txBody>
          <a:bodyPr wrap="square" lIns="0" tIns="0" rIns="0" bIns="0" rtlCol="0" anchor="t"/>
          <a:lstStyle/>
          <a:p>
            <a:pPr indent="0" marL="0">
              <a:buNone/>
            </a:pPr>
            <a:r>
              <a:rPr lang="en-US" sz="1600" dirty="0">
                <a:solidFill>
                  <a:schemeClr val="tx2"/>
                </a:solidFill>
              </a:rPr>
              <a:t>Every update means repeating the same steps, again and again.</a:t>
            </a:r>
            <a:endParaRPr lang="en-US" sz="1600" dirty="0"/>
          </a:p>
        </p:txBody>
      </p:sp>
      <p:sp>
        <p:nvSpPr>
          <p:cNvPr id="8" name="why card"/>
          <p:cNvSpPr/>
          <p:nvPr/>
        </p:nvSpPr>
        <p:spPr>
          <a:xfrm>
            <a:off x="4334256" y="1600200"/>
            <a:ext cx="3520440" cy="3291840"/>
          </a:xfrm>
          <a:prstGeom prst="roundRect">
            <a:avLst>
              <a:gd name="adj" fmla="val 3889"/>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9" name="icon circle"/>
          <p:cNvSpPr/>
          <p:nvPr/>
        </p:nvSpPr>
        <p:spPr>
          <a:xfrm>
            <a:off x="4700016" y="1965960"/>
            <a:ext cx="777240" cy="77724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4909871" y="2175815"/>
            <a:ext cx="357530" cy="357530"/>
          </a:xfrm>
          <a:prstGeom prst="rect">
            <a:avLst/>
          </a:prstGeom>
        </p:spPr>
      </p:pic>
      <p:sp>
        <p:nvSpPr>
          <p:cNvPr id="11" name="Text 7"/>
          <p:cNvSpPr txBox="1"/>
          <p:nvPr/>
        </p:nvSpPr>
        <p:spPr>
          <a:xfrm>
            <a:off x="4700016" y="2971800"/>
            <a:ext cx="2834640" cy="731520"/>
          </a:xfrm>
          <a:prstGeom prst="rect">
            <a:avLst/>
          </a:prstGeom>
          <a:noFill/>
          <a:ln/>
        </p:spPr>
        <p:txBody>
          <a:bodyPr wrap="square" lIns="0" tIns="0" rIns="0" bIns="0" rtlCol="0" anchor="t"/>
          <a:lstStyle/>
          <a:p>
            <a:pPr indent="0" marL="0">
              <a:buNone/>
            </a:pPr>
            <a:r>
              <a:rPr lang="en-US" sz="2100" b="1" dirty="0">
                <a:solidFill>
                  <a:schemeClr val="tx1"/>
                </a:solidFill>
                <a:latin typeface="Georgia" pitchFamily="34" charset="0"/>
                <a:ea typeface="Georgia" pitchFamily="34" charset="-122"/>
                <a:cs typeface="Georgia" pitchFamily="34" charset="-120"/>
              </a:rPr>
              <a:t>It's easy to slip</a:t>
            </a:r>
            <a:endParaRPr lang="en-US" sz="2100" dirty="0"/>
          </a:p>
        </p:txBody>
      </p:sp>
      <p:sp>
        <p:nvSpPr>
          <p:cNvPr id="12" name="Text 8"/>
          <p:cNvSpPr txBox="1"/>
          <p:nvPr/>
        </p:nvSpPr>
        <p:spPr>
          <a:xfrm>
            <a:off x="4700016" y="3840480"/>
            <a:ext cx="2834640" cy="914400"/>
          </a:xfrm>
          <a:prstGeom prst="rect">
            <a:avLst/>
          </a:prstGeom>
          <a:noFill/>
          <a:ln/>
        </p:spPr>
        <p:txBody>
          <a:bodyPr wrap="square" lIns="0" tIns="0" rIns="0" bIns="0" rtlCol="0" anchor="t"/>
          <a:lstStyle/>
          <a:p>
            <a:pPr indent="0" marL="0">
              <a:buNone/>
            </a:pPr>
            <a:r>
              <a:rPr lang="en-US" sz="1600" dirty="0">
                <a:solidFill>
                  <a:schemeClr val="tx2"/>
                </a:solidFill>
              </a:rPr>
              <a:t>Skip one check and a bug reaches real users.</a:t>
            </a:r>
            <a:endParaRPr lang="en-US" sz="1600" dirty="0"/>
          </a:p>
        </p:txBody>
      </p:sp>
      <p:sp>
        <p:nvSpPr>
          <p:cNvPr id="13" name="why card"/>
          <p:cNvSpPr/>
          <p:nvPr/>
        </p:nvSpPr>
        <p:spPr>
          <a:xfrm>
            <a:off x="8119872" y="1600200"/>
            <a:ext cx="3520440" cy="3291840"/>
          </a:xfrm>
          <a:prstGeom prst="roundRect">
            <a:avLst>
              <a:gd name="adj" fmla="val 3889"/>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14" name="icon circle"/>
          <p:cNvSpPr/>
          <p:nvPr/>
        </p:nvSpPr>
        <p:spPr>
          <a:xfrm>
            <a:off x="8485632" y="1965960"/>
            <a:ext cx="777240" cy="77724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8695487" y="2175815"/>
            <a:ext cx="357530" cy="357530"/>
          </a:xfrm>
          <a:prstGeom prst="rect">
            <a:avLst/>
          </a:prstGeom>
        </p:spPr>
      </p:pic>
      <p:sp>
        <p:nvSpPr>
          <p:cNvPr id="16" name="Text 11"/>
          <p:cNvSpPr txBox="1"/>
          <p:nvPr/>
        </p:nvSpPr>
        <p:spPr>
          <a:xfrm>
            <a:off x="8485632" y="2971800"/>
            <a:ext cx="2834640" cy="731520"/>
          </a:xfrm>
          <a:prstGeom prst="rect">
            <a:avLst/>
          </a:prstGeom>
          <a:noFill/>
          <a:ln/>
        </p:spPr>
        <p:txBody>
          <a:bodyPr wrap="square" lIns="0" tIns="0" rIns="0" bIns="0" rtlCol="0" anchor="t"/>
          <a:lstStyle/>
          <a:p>
            <a:pPr indent="0" marL="0">
              <a:buNone/>
            </a:pPr>
            <a:r>
              <a:rPr lang="en-US" sz="2100" b="1" dirty="0">
                <a:solidFill>
                  <a:schemeClr val="tx1"/>
                </a:solidFill>
                <a:latin typeface="Georgia" pitchFamily="34" charset="0"/>
                <a:ea typeface="Georgia" pitchFamily="34" charset="-122"/>
                <a:cs typeface="Georgia" pitchFamily="34" charset="-120"/>
              </a:rPr>
              <a:t>“It works on my laptop”</a:t>
            </a:r>
            <a:endParaRPr lang="en-US" sz="2100" dirty="0"/>
          </a:p>
        </p:txBody>
      </p:sp>
      <p:sp>
        <p:nvSpPr>
          <p:cNvPr id="17" name="Text 12"/>
          <p:cNvSpPr txBox="1"/>
          <p:nvPr/>
        </p:nvSpPr>
        <p:spPr>
          <a:xfrm>
            <a:off x="8485632" y="3840480"/>
            <a:ext cx="2834640" cy="914400"/>
          </a:xfrm>
          <a:prstGeom prst="rect">
            <a:avLst/>
          </a:prstGeom>
          <a:noFill/>
          <a:ln/>
        </p:spPr>
        <p:txBody>
          <a:bodyPr wrap="square" lIns="0" tIns="0" rIns="0" bIns="0" rtlCol="0" anchor="t"/>
          <a:lstStyle/>
          <a:p>
            <a:pPr indent="0" marL="0">
              <a:buNone/>
            </a:pPr>
            <a:r>
              <a:rPr lang="en-US" sz="1600" dirty="0">
                <a:solidFill>
                  <a:schemeClr val="tx2"/>
                </a:solidFill>
              </a:rPr>
              <a:t>…and then it breaks somewhere else.</a:t>
            </a:r>
            <a:endParaRPr lang="en-US" sz="1600" dirty="0"/>
          </a:p>
        </p:txBody>
      </p:sp>
      <p:sp>
        <p:nvSpPr>
          <p:cNvPr id="18" name="Text 13"/>
          <p:cNvSpPr txBox="1"/>
          <p:nvPr/>
        </p:nvSpPr>
        <p:spPr>
          <a:xfrm>
            <a:off x="548640" y="5166360"/>
            <a:ext cx="11064240" cy="548640"/>
          </a:xfrm>
          <a:prstGeom prst="rect">
            <a:avLst/>
          </a:prstGeom>
          <a:noFill/>
          <a:ln/>
        </p:spPr>
        <p:txBody>
          <a:bodyPr wrap="square" lIns="0" tIns="0" rIns="0" bIns="0" rtlCol="0" anchor="t"/>
          <a:lstStyle/>
          <a:p>
            <a:pPr indent="0" marL="0">
              <a:buNone/>
            </a:pPr>
            <a:r>
              <a:rPr lang="en-US" sz="2400" b="1" dirty="0">
                <a:solidFill>
                  <a:schemeClr val="accent1"/>
                </a:solidFill>
                <a:latin typeface="Georgia" pitchFamily="34" charset="0"/>
                <a:ea typeface="Georgia" pitchFamily="34" charset="-122"/>
                <a:cs typeface="Georgia" pitchFamily="34" charset="-120"/>
              </a:rPr>
              <a:t>So I let the computer do the routine work.</a:t>
            </a:r>
            <a:endParaRPr lang="en-US" sz="24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From my laptop to the internet</a:t>
            </a:r>
            <a:endParaRPr lang="en-US" sz="3600" dirty="0"/>
          </a:p>
        </p:txBody>
      </p:sp>
      <p:sp>
        <p:nvSpPr>
          <p:cNvPr id="3" name="icon circle"/>
          <p:cNvSpPr/>
          <p:nvPr/>
        </p:nvSpPr>
        <p:spPr>
          <a:xfrm>
            <a:off x="1075792" y="1828800"/>
            <a:ext cx="1005840" cy="100584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1347368" y="2100377"/>
            <a:ext cx="462686" cy="462686"/>
          </a:xfrm>
          <a:prstGeom prst="rect">
            <a:avLst/>
          </a:prstGeom>
        </p:spPr>
      </p:pic>
      <p:sp>
        <p:nvSpPr>
          <p:cNvPr id="5" name="arrow"/>
          <p:cNvSpPr/>
          <p:nvPr/>
        </p:nvSpPr>
        <p:spPr>
          <a:xfrm>
            <a:off x="2173072" y="2331720"/>
            <a:ext cx="1069848" cy="0"/>
          </a:xfrm>
          <a:prstGeom prst="line">
            <a:avLst/>
          </a:prstGeom>
          <a:noFill/>
          <a:ln w="19050">
            <a:solidFill>
              <a:schemeClr val="tx2"/>
            </a:solidFill>
            <a:prstDash val="solid"/>
            <a:tailEnd type="triangle"/>
          </a:ln>
        </p:spPr>
      </p:sp>
      <p:sp>
        <p:nvSpPr>
          <p:cNvPr id="6" name="Text 3"/>
          <p:cNvSpPr txBox="1"/>
          <p:nvPr/>
        </p:nvSpPr>
        <p:spPr>
          <a:xfrm>
            <a:off x="572872" y="310896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I make a change</a:t>
            </a:r>
            <a:endParaRPr lang="en-US" sz="1800" dirty="0"/>
          </a:p>
        </p:txBody>
      </p:sp>
      <p:sp>
        <p:nvSpPr>
          <p:cNvPr id="7" name="Text 4"/>
          <p:cNvSpPr txBox="1"/>
          <p:nvPr/>
        </p:nvSpPr>
        <p:spPr>
          <a:xfrm>
            <a:off x="572872" y="3566160"/>
            <a:ext cx="2011680" cy="731520"/>
          </a:xfrm>
          <a:prstGeom prst="rect">
            <a:avLst/>
          </a:prstGeom>
          <a:noFill/>
          <a:ln/>
        </p:spPr>
        <p:txBody>
          <a:bodyPr wrap="square" lIns="0" tIns="0" rIns="0" bIns="0" rtlCol="0" anchor="t"/>
          <a:lstStyle/>
          <a:p>
            <a:pPr algn="ctr" indent="0" marL="0">
              <a:buNone/>
            </a:pPr>
            <a:r>
              <a:rPr lang="en-US" sz="1500" dirty="0">
                <a:solidFill>
                  <a:schemeClr val="tx2"/>
                </a:solidFill>
              </a:rPr>
              <a:t>and save it to GitHub</a:t>
            </a:r>
            <a:endParaRPr lang="en-US" sz="1500" dirty="0"/>
          </a:p>
        </p:txBody>
      </p:sp>
      <p:sp>
        <p:nvSpPr>
          <p:cNvPr id="8" name="icon circle"/>
          <p:cNvSpPr/>
          <p:nvPr/>
        </p:nvSpPr>
        <p:spPr>
          <a:xfrm>
            <a:off x="3334360" y="1828800"/>
            <a:ext cx="1005840" cy="1005840"/>
          </a:xfrm>
          <a:prstGeom prst="ellipse">
            <a:avLst/>
          </a:prstGeom>
          <a:solidFill>
            <a:schemeClr val="accent1"/>
          </a:solidFill>
          <a:ln w="12700">
            <a:solidFill>
              <a:schemeClr val="accent1"/>
            </a:solidFill>
            <a:prstDash val="solid"/>
          </a:ln>
        </p:spPr>
      </p:sp>
      <p:pic>
        <p:nvPicPr>
          <p:cNvPr id="9" name="icon" descr="preencoded.png">    </p:cNvPr>
          <p:cNvPicPr>
            <a:picLocks noChangeAspect="1"/>
          </p:cNvPicPr>
          <p:nvPr/>
        </p:nvPicPr>
        <p:blipFill>
          <a:blip r:embed="rId2"/>
          <a:stretch>
            <a:fillRect/>
          </a:stretch>
        </p:blipFill>
        <p:spPr>
          <a:xfrm>
            <a:off x="3605936" y="2100377"/>
            <a:ext cx="462686" cy="462686"/>
          </a:xfrm>
          <a:prstGeom prst="rect">
            <a:avLst/>
          </a:prstGeom>
        </p:spPr>
      </p:pic>
      <p:sp>
        <p:nvSpPr>
          <p:cNvPr id="10" name="arrow"/>
          <p:cNvSpPr/>
          <p:nvPr/>
        </p:nvSpPr>
        <p:spPr>
          <a:xfrm>
            <a:off x="4431640" y="2331720"/>
            <a:ext cx="1069848" cy="0"/>
          </a:xfrm>
          <a:prstGeom prst="line">
            <a:avLst/>
          </a:prstGeom>
          <a:noFill/>
          <a:ln w="19050">
            <a:solidFill>
              <a:schemeClr val="tx2"/>
            </a:solidFill>
            <a:prstDash val="solid"/>
            <a:tailEnd type="triangle"/>
          </a:ln>
        </p:spPr>
      </p:sp>
      <p:sp>
        <p:nvSpPr>
          <p:cNvPr id="11" name="Text 7"/>
          <p:cNvSpPr txBox="1"/>
          <p:nvPr/>
        </p:nvSpPr>
        <p:spPr>
          <a:xfrm>
            <a:off x="2831440" y="310896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It gets checked</a:t>
            </a:r>
            <a:endParaRPr lang="en-US" sz="1800" dirty="0"/>
          </a:p>
        </p:txBody>
      </p:sp>
      <p:sp>
        <p:nvSpPr>
          <p:cNvPr id="12" name="Text 8"/>
          <p:cNvSpPr txBox="1"/>
          <p:nvPr/>
        </p:nvSpPr>
        <p:spPr>
          <a:xfrm>
            <a:off x="2831440" y="3566160"/>
            <a:ext cx="2011680" cy="731520"/>
          </a:xfrm>
          <a:prstGeom prst="rect">
            <a:avLst/>
          </a:prstGeom>
          <a:noFill/>
          <a:ln/>
        </p:spPr>
        <p:txBody>
          <a:bodyPr wrap="square" lIns="0" tIns="0" rIns="0" bIns="0" rtlCol="0" anchor="t"/>
          <a:lstStyle/>
          <a:p>
            <a:pPr algn="ctr" indent="0" marL="0">
              <a:buNone/>
            </a:pPr>
            <a:r>
              <a:rPr lang="en-US" sz="1500" dirty="0">
                <a:solidFill>
                  <a:schemeClr val="tx2"/>
                </a:solidFill>
              </a:rPr>
              <a:t>tests and a security scan</a:t>
            </a:r>
            <a:endParaRPr lang="en-US" sz="1500" dirty="0"/>
          </a:p>
        </p:txBody>
      </p:sp>
      <p:sp>
        <p:nvSpPr>
          <p:cNvPr id="13" name="icon circle"/>
          <p:cNvSpPr/>
          <p:nvPr/>
        </p:nvSpPr>
        <p:spPr>
          <a:xfrm>
            <a:off x="5592928" y="1828800"/>
            <a:ext cx="1005840" cy="1005840"/>
          </a:xfrm>
          <a:prstGeom prst="ellipse">
            <a:avLst/>
          </a:prstGeom>
          <a:solidFill>
            <a:schemeClr val="accent1"/>
          </a:solidFill>
          <a:ln w="12700">
            <a:solidFill>
              <a:schemeClr val="accent1"/>
            </a:solidFill>
            <a:prstDash val="solid"/>
          </a:ln>
        </p:spPr>
      </p:sp>
      <p:pic>
        <p:nvPicPr>
          <p:cNvPr id="14" name="icon" descr="preencoded.png">    </p:cNvPr>
          <p:cNvPicPr>
            <a:picLocks noChangeAspect="1"/>
          </p:cNvPicPr>
          <p:nvPr/>
        </p:nvPicPr>
        <p:blipFill>
          <a:blip r:embed="rId3"/>
          <a:stretch>
            <a:fillRect/>
          </a:stretch>
        </p:blipFill>
        <p:spPr>
          <a:xfrm>
            <a:off x="5864504" y="2100377"/>
            <a:ext cx="462686" cy="462686"/>
          </a:xfrm>
          <a:prstGeom prst="rect">
            <a:avLst/>
          </a:prstGeom>
        </p:spPr>
      </p:pic>
      <p:sp>
        <p:nvSpPr>
          <p:cNvPr id="15" name="arrow"/>
          <p:cNvSpPr/>
          <p:nvPr/>
        </p:nvSpPr>
        <p:spPr>
          <a:xfrm>
            <a:off x="6690208" y="2331720"/>
            <a:ext cx="1069848" cy="0"/>
          </a:xfrm>
          <a:prstGeom prst="line">
            <a:avLst/>
          </a:prstGeom>
          <a:noFill/>
          <a:ln w="19050">
            <a:solidFill>
              <a:schemeClr val="tx2"/>
            </a:solidFill>
            <a:prstDash val="solid"/>
            <a:tailEnd type="triangle"/>
          </a:ln>
        </p:spPr>
      </p:sp>
      <p:sp>
        <p:nvSpPr>
          <p:cNvPr id="16" name="Text 11"/>
          <p:cNvSpPr txBox="1"/>
          <p:nvPr/>
        </p:nvSpPr>
        <p:spPr>
          <a:xfrm>
            <a:off x="5090008" y="310896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It gets packed</a:t>
            </a:r>
            <a:endParaRPr lang="en-US" sz="1800" dirty="0"/>
          </a:p>
        </p:txBody>
      </p:sp>
      <p:sp>
        <p:nvSpPr>
          <p:cNvPr id="17" name="Text 12"/>
          <p:cNvSpPr txBox="1"/>
          <p:nvPr/>
        </p:nvSpPr>
        <p:spPr>
          <a:xfrm>
            <a:off x="5090008" y="3566160"/>
            <a:ext cx="2011680" cy="731520"/>
          </a:xfrm>
          <a:prstGeom prst="rect">
            <a:avLst/>
          </a:prstGeom>
          <a:noFill/>
          <a:ln/>
        </p:spPr>
        <p:txBody>
          <a:bodyPr wrap="square" lIns="0" tIns="0" rIns="0" bIns="0" rtlCol="0" anchor="t"/>
          <a:lstStyle/>
          <a:p>
            <a:pPr algn="ctr" indent="0" marL="0">
              <a:buNone/>
            </a:pPr>
            <a:r>
              <a:rPr lang="en-US" sz="1500" dirty="0">
                <a:solidFill>
                  <a:schemeClr val="tx2"/>
                </a:solidFill>
              </a:rPr>
              <a:t>into a box that runs anywhere</a:t>
            </a:r>
            <a:endParaRPr lang="en-US" sz="1500" dirty="0"/>
          </a:p>
        </p:txBody>
      </p:sp>
      <p:sp>
        <p:nvSpPr>
          <p:cNvPr id="18" name="icon circle"/>
          <p:cNvSpPr/>
          <p:nvPr/>
        </p:nvSpPr>
        <p:spPr>
          <a:xfrm>
            <a:off x="7851496" y="1828800"/>
            <a:ext cx="1005840" cy="1005840"/>
          </a:xfrm>
          <a:prstGeom prst="ellipse">
            <a:avLst/>
          </a:prstGeom>
          <a:solidFill>
            <a:schemeClr val="accent1"/>
          </a:solidFill>
          <a:ln w="12700">
            <a:solidFill>
              <a:schemeClr val="accent1"/>
            </a:solidFill>
            <a:prstDash val="solid"/>
          </a:ln>
        </p:spPr>
      </p:sp>
      <p:pic>
        <p:nvPicPr>
          <p:cNvPr id="19" name="icon" descr="preencoded.png">    </p:cNvPr>
          <p:cNvPicPr>
            <a:picLocks noChangeAspect="1"/>
          </p:cNvPicPr>
          <p:nvPr/>
        </p:nvPicPr>
        <p:blipFill>
          <a:blip r:embed="rId4"/>
          <a:stretch>
            <a:fillRect/>
          </a:stretch>
        </p:blipFill>
        <p:spPr>
          <a:xfrm>
            <a:off x="8123072" y="2100377"/>
            <a:ext cx="462686" cy="462686"/>
          </a:xfrm>
          <a:prstGeom prst="rect">
            <a:avLst/>
          </a:prstGeom>
        </p:spPr>
      </p:pic>
      <p:sp>
        <p:nvSpPr>
          <p:cNvPr id="20" name="arrow"/>
          <p:cNvSpPr/>
          <p:nvPr/>
        </p:nvSpPr>
        <p:spPr>
          <a:xfrm>
            <a:off x="8948776" y="2331720"/>
            <a:ext cx="1069848" cy="0"/>
          </a:xfrm>
          <a:prstGeom prst="line">
            <a:avLst/>
          </a:prstGeom>
          <a:noFill/>
          <a:ln w="19050">
            <a:solidFill>
              <a:schemeClr val="tx2"/>
            </a:solidFill>
            <a:prstDash val="solid"/>
            <a:tailEnd type="triangle"/>
          </a:ln>
        </p:spPr>
      </p:sp>
      <p:sp>
        <p:nvSpPr>
          <p:cNvPr id="21" name="Text 15"/>
          <p:cNvSpPr txBox="1"/>
          <p:nvPr/>
        </p:nvSpPr>
        <p:spPr>
          <a:xfrm>
            <a:off x="7348576" y="310896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It goes live</a:t>
            </a:r>
            <a:endParaRPr lang="en-US" sz="1800" dirty="0"/>
          </a:p>
        </p:txBody>
      </p:sp>
      <p:sp>
        <p:nvSpPr>
          <p:cNvPr id="22" name="Text 16"/>
          <p:cNvSpPr txBox="1"/>
          <p:nvPr/>
        </p:nvSpPr>
        <p:spPr>
          <a:xfrm>
            <a:off x="7348576" y="3566160"/>
            <a:ext cx="2011680" cy="731520"/>
          </a:xfrm>
          <a:prstGeom prst="rect">
            <a:avLst/>
          </a:prstGeom>
          <a:noFill/>
          <a:ln/>
        </p:spPr>
        <p:txBody>
          <a:bodyPr wrap="square" lIns="0" tIns="0" rIns="0" bIns="0" rtlCol="0" anchor="t"/>
          <a:lstStyle/>
          <a:p>
            <a:pPr algn="ctr" indent="0" marL="0">
              <a:buNone/>
            </a:pPr>
            <a:r>
              <a:rPr lang="en-US" sz="1500" dirty="0">
                <a:solidFill>
                  <a:schemeClr val="tx2"/>
                </a:solidFill>
              </a:rPr>
              <a:t>on servers in the cloud</a:t>
            </a:r>
            <a:endParaRPr lang="en-US" sz="1500" dirty="0"/>
          </a:p>
        </p:txBody>
      </p:sp>
      <p:sp>
        <p:nvSpPr>
          <p:cNvPr id="23" name="icon circle"/>
          <p:cNvSpPr/>
          <p:nvPr/>
        </p:nvSpPr>
        <p:spPr>
          <a:xfrm>
            <a:off x="10110064" y="1828800"/>
            <a:ext cx="1005840" cy="1005840"/>
          </a:xfrm>
          <a:prstGeom prst="ellipse">
            <a:avLst/>
          </a:prstGeom>
          <a:solidFill>
            <a:schemeClr val="accent2"/>
          </a:solidFill>
          <a:ln w="12700">
            <a:solidFill>
              <a:schemeClr val="accent2"/>
            </a:solidFill>
            <a:prstDash val="solid"/>
          </a:ln>
        </p:spPr>
      </p:sp>
      <p:pic>
        <p:nvPicPr>
          <p:cNvPr id="24" name="icon" descr="preencoded.png">    </p:cNvPr>
          <p:cNvPicPr>
            <a:picLocks noChangeAspect="1"/>
          </p:cNvPicPr>
          <p:nvPr/>
        </p:nvPicPr>
        <p:blipFill>
          <a:blip r:embed="rId5"/>
          <a:stretch>
            <a:fillRect/>
          </a:stretch>
        </p:blipFill>
        <p:spPr>
          <a:xfrm>
            <a:off x="10381640" y="2100377"/>
            <a:ext cx="462686" cy="462686"/>
          </a:xfrm>
          <a:prstGeom prst="rect">
            <a:avLst/>
          </a:prstGeom>
        </p:spPr>
      </p:pic>
      <p:sp>
        <p:nvSpPr>
          <p:cNvPr id="25" name="Text 18"/>
          <p:cNvSpPr txBox="1"/>
          <p:nvPr/>
        </p:nvSpPr>
        <p:spPr>
          <a:xfrm>
            <a:off x="9607144" y="3108960"/>
            <a:ext cx="2011680" cy="411480"/>
          </a:xfrm>
          <a:prstGeom prst="rect">
            <a:avLst/>
          </a:prstGeom>
          <a:noFill/>
          <a:ln/>
        </p:spPr>
        <p:txBody>
          <a:bodyPr wrap="square" lIns="0" tIns="0" rIns="0" bIns="0" rtlCol="0" anchor="t"/>
          <a:lstStyle/>
          <a:p>
            <a:pPr algn="ctr" indent="0" marL="0">
              <a:buNone/>
            </a:pPr>
            <a:r>
              <a:rPr lang="en-US" sz="1800" b="1" dirty="0">
                <a:solidFill>
                  <a:schemeClr val="tx1"/>
                </a:solidFill>
              </a:rPr>
              <a:t>I keep an eye on it</a:t>
            </a:r>
            <a:endParaRPr lang="en-US" sz="1800" dirty="0"/>
          </a:p>
        </p:txBody>
      </p:sp>
      <p:sp>
        <p:nvSpPr>
          <p:cNvPr id="26" name="Text 19"/>
          <p:cNvSpPr txBox="1"/>
          <p:nvPr/>
        </p:nvSpPr>
        <p:spPr>
          <a:xfrm>
            <a:off x="9607144" y="3566160"/>
            <a:ext cx="2011680" cy="731520"/>
          </a:xfrm>
          <a:prstGeom prst="rect">
            <a:avLst/>
          </a:prstGeom>
          <a:noFill/>
          <a:ln/>
        </p:spPr>
        <p:txBody>
          <a:bodyPr wrap="square" lIns="0" tIns="0" rIns="0" bIns="0" rtlCol="0" anchor="t"/>
          <a:lstStyle/>
          <a:p>
            <a:pPr algn="ctr" indent="0" marL="0">
              <a:buNone/>
            </a:pPr>
            <a:r>
              <a:rPr lang="en-US" sz="1500" dirty="0">
                <a:solidFill>
                  <a:schemeClr val="tx2"/>
                </a:solidFill>
              </a:rPr>
              <a:t>on a live dashboard</a:t>
            </a:r>
            <a:endParaRPr lang="en-US" sz="1500" dirty="0"/>
          </a:p>
        </p:txBody>
      </p:sp>
      <p:sp>
        <p:nvSpPr>
          <p:cNvPr id="27" name="summary card"/>
          <p:cNvSpPr/>
          <p:nvPr/>
        </p:nvSpPr>
        <p:spPr>
          <a:xfrm>
            <a:off x="548640" y="5074920"/>
            <a:ext cx="11091672" cy="868680"/>
          </a:xfrm>
          <a:prstGeom prst="roundRect">
            <a:avLst>
              <a:gd name="adj" fmla="val 14737"/>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28" name="Text 21"/>
          <p:cNvSpPr txBox="1"/>
          <p:nvPr/>
        </p:nvSpPr>
        <p:spPr>
          <a:xfrm>
            <a:off x="548640" y="5074920"/>
            <a:ext cx="11091672" cy="868680"/>
          </a:xfrm>
          <a:prstGeom prst="rect">
            <a:avLst/>
          </a:prstGeom>
          <a:noFill/>
          <a:ln/>
        </p:spPr>
        <p:txBody>
          <a:bodyPr wrap="square" lIns="355600" tIns="0" rIns="355600" bIns="0" rtlCol="0" anchor="ctr"/>
          <a:lstStyle/>
          <a:p>
            <a:pPr indent="0" marL="0">
              <a:buNone/>
            </a:pPr>
            <a:r>
              <a:rPr lang="en-US" sz="1800" b="1" dirty="0">
                <a:solidFill>
                  <a:schemeClr val="tx1"/>
                </a:solidFill>
              </a:rPr>
              <a:t>No buttons to click. </a:t>
            </a:r>
            <a:pPr indent="0" marL="0">
              <a:buNone/>
            </a:pPr>
            <a:r>
              <a:rPr lang="en-US" sz="1800" dirty="0">
                <a:solidFill>
                  <a:schemeClr val="tx2"/>
                </a:solidFill>
              </a:rPr>
              <a:t>Every time I save a change, all of this happens on its own in about 3 minutes.</a:t>
            </a:r>
            <a:endParaRPr lang="en-US" sz="18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Checked before it goes live</a:t>
            </a:r>
            <a:endParaRPr lang="en-US" sz="3600" dirty="0"/>
          </a:p>
        </p:txBody>
      </p:sp>
      <p:sp>
        <p:nvSpPr>
          <p:cNvPr id="3" name="stat card"/>
          <p:cNvSpPr/>
          <p:nvPr/>
        </p:nvSpPr>
        <p:spPr>
          <a:xfrm>
            <a:off x="548640" y="1508760"/>
            <a:ext cx="3931920" cy="2148840"/>
          </a:xfrm>
          <a:prstGeom prst="roundRect">
            <a:avLst>
              <a:gd name="adj" fmla="val 5957"/>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4" name="Text 2"/>
          <p:cNvSpPr txBox="1"/>
          <p:nvPr/>
        </p:nvSpPr>
        <p:spPr>
          <a:xfrm>
            <a:off x="914400" y="1691640"/>
            <a:ext cx="3291840" cy="868680"/>
          </a:xfrm>
          <a:prstGeom prst="rect">
            <a:avLst/>
          </a:prstGeom>
          <a:noFill/>
          <a:ln/>
        </p:spPr>
        <p:txBody>
          <a:bodyPr wrap="square" lIns="0" tIns="0" rIns="0" bIns="0" rtlCol="0" anchor="b"/>
          <a:lstStyle/>
          <a:p>
            <a:pPr indent="0" marL="0">
              <a:buNone/>
            </a:pPr>
            <a:r>
              <a:rPr lang="en-US" sz="5400" b="1" dirty="0">
                <a:solidFill>
                  <a:schemeClr val="accent2"/>
                </a:solidFill>
                <a:latin typeface="Georgia" pitchFamily="34" charset="0"/>
                <a:ea typeface="Georgia" pitchFamily="34" charset="-122"/>
                <a:cs typeface="Georgia" pitchFamily="34" charset="-120"/>
              </a:rPr>
              <a:t>9 / 9</a:t>
            </a:r>
            <a:endParaRPr lang="en-US" sz="5400" dirty="0"/>
          </a:p>
        </p:txBody>
      </p:sp>
      <p:sp>
        <p:nvSpPr>
          <p:cNvPr id="5" name="Text 3"/>
          <p:cNvSpPr txBox="1"/>
          <p:nvPr/>
        </p:nvSpPr>
        <p:spPr>
          <a:xfrm>
            <a:off x="914400" y="2606040"/>
            <a:ext cx="3291840" cy="640080"/>
          </a:xfrm>
          <a:prstGeom prst="rect">
            <a:avLst/>
          </a:prstGeom>
          <a:noFill/>
          <a:ln/>
        </p:spPr>
        <p:txBody>
          <a:bodyPr wrap="square" lIns="0" tIns="0" rIns="0" bIns="0" rtlCol="0" anchor="t"/>
          <a:lstStyle/>
          <a:p>
            <a:pPr indent="0" marL="0">
              <a:buNone/>
            </a:pPr>
            <a:r>
              <a:rPr lang="en-US" sz="1600" dirty="0">
                <a:solidFill>
                  <a:schemeClr val="tx2"/>
                </a:solidFill>
              </a:rPr>
              <a:t>automatic checks pass on every change</a:t>
            </a:r>
            <a:endParaRPr lang="en-US" sz="1600" dirty="0"/>
          </a:p>
        </p:txBody>
      </p:sp>
      <p:sp>
        <p:nvSpPr>
          <p:cNvPr id="6" name="stat card"/>
          <p:cNvSpPr/>
          <p:nvPr/>
        </p:nvSpPr>
        <p:spPr>
          <a:xfrm>
            <a:off x="548640" y="3931920"/>
            <a:ext cx="3931920" cy="2148840"/>
          </a:xfrm>
          <a:prstGeom prst="roundRect">
            <a:avLst>
              <a:gd name="adj" fmla="val 5957"/>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7" name="Text 5"/>
          <p:cNvSpPr txBox="1"/>
          <p:nvPr/>
        </p:nvSpPr>
        <p:spPr>
          <a:xfrm>
            <a:off x="914400" y="4114800"/>
            <a:ext cx="3291840" cy="868680"/>
          </a:xfrm>
          <a:prstGeom prst="rect">
            <a:avLst/>
          </a:prstGeom>
          <a:noFill/>
          <a:ln/>
        </p:spPr>
        <p:txBody>
          <a:bodyPr wrap="square" lIns="0" tIns="0" rIns="0" bIns="0" rtlCol="0" anchor="b"/>
          <a:lstStyle/>
          <a:p>
            <a:pPr indent="0" marL="0">
              <a:buNone/>
            </a:pPr>
            <a:r>
              <a:rPr lang="en-US" sz="5400" b="1" dirty="0">
                <a:solidFill>
                  <a:schemeClr val="accent2"/>
                </a:solidFill>
                <a:latin typeface="Georgia" pitchFamily="34" charset="0"/>
                <a:ea typeface="Georgia" pitchFamily="34" charset="-122"/>
                <a:cs typeface="Georgia" pitchFamily="34" charset="-120"/>
              </a:rPr>
              <a:t>0</a:t>
            </a:r>
            <a:endParaRPr lang="en-US" sz="5400" dirty="0"/>
          </a:p>
        </p:txBody>
      </p:sp>
      <p:sp>
        <p:nvSpPr>
          <p:cNvPr id="8" name="Text 6"/>
          <p:cNvSpPr txBox="1"/>
          <p:nvPr/>
        </p:nvSpPr>
        <p:spPr>
          <a:xfrm>
            <a:off x="914400" y="5029200"/>
            <a:ext cx="3291840" cy="640080"/>
          </a:xfrm>
          <a:prstGeom prst="rect">
            <a:avLst/>
          </a:prstGeom>
          <a:noFill/>
          <a:ln/>
        </p:spPr>
        <p:txBody>
          <a:bodyPr wrap="square" lIns="0" tIns="0" rIns="0" bIns="0" rtlCol="0" anchor="t"/>
          <a:lstStyle/>
          <a:p>
            <a:pPr indent="0" marL="0">
              <a:buNone/>
            </a:pPr>
            <a:r>
              <a:rPr lang="en-US" sz="1600" dirty="0">
                <a:solidFill>
                  <a:schemeClr val="tx2"/>
                </a:solidFill>
              </a:rPr>
              <a:t>serious security problems found</a:t>
            </a:r>
            <a:endParaRPr lang="en-US" sz="1600" dirty="0"/>
          </a:p>
        </p:txBody>
      </p:sp>
      <p:sp>
        <p:nvSpPr>
          <p:cNvPr id="9" name="card 31-actions-green"/>
          <p:cNvSpPr/>
          <p:nvPr/>
        </p:nvSpPr>
        <p:spPr>
          <a:xfrm>
            <a:off x="4818888" y="1435608"/>
            <a:ext cx="6867144" cy="4376699"/>
          </a:xfrm>
          <a:prstGeom prst="roundRect">
            <a:avLst>
              <a:gd name="adj" fmla="val 2089"/>
            </a:avLst>
          </a:prstGeom>
          <a:solidFill>
            <a:schemeClr val="bg1"/>
          </a:solidFill>
          <a:ln w="12700">
            <a:solidFill>
              <a:schemeClr val="bg1"/>
            </a:solidFill>
            <a:prstDash val="solid"/>
          </a:ln>
          <a:effectLst>
            <a:outerShdw sx="100000" sy="100000" kx="0" ky="0" algn="bl" rotWithShape="0" blurRad="177800" dist="38100" dir="5400000">
              <a:srgbClr val="000000">
                <a:alpha val="14000"/>
              </a:srgbClr>
            </a:outerShdw>
          </a:effectLst>
        </p:spPr>
      </p:sp>
      <p:pic>
        <p:nvPicPr>
          <p:cNvPr id="10" name="screenshot 31-actions-green" descr="actions green">    </p:cNvPr>
          <p:cNvPicPr>
            <a:picLocks noChangeAspect="1"/>
          </p:cNvPicPr>
          <p:nvPr/>
        </p:nvPicPr>
        <p:blipFill>
          <a:blip r:embed="rId1"/>
          <a:stretch>
            <a:fillRect/>
          </a:stretch>
        </p:blipFill>
        <p:spPr>
          <a:xfrm>
            <a:off x="4892040" y="1508760"/>
            <a:ext cx="6720840" cy="4230395"/>
          </a:xfrm>
          <a:prstGeom prst="rect">
            <a:avLst/>
          </a:prstGeom>
        </p:spPr>
      </p:pic>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Packed once, runs anywhere</a:t>
            </a:r>
            <a:endParaRPr lang="en-US" sz="3600" dirty="0"/>
          </a:p>
        </p:txBody>
      </p:sp>
      <p:sp>
        <p:nvSpPr>
          <p:cNvPr id="3" name="Text 1"/>
          <p:cNvSpPr txBox="1"/>
          <p:nvPr/>
        </p:nvSpPr>
        <p:spPr>
          <a:xfrm>
            <a:off x="548640" y="1508760"/>
            <a:ext cx="4206240" cy="1463040"/>
          </a:xfrm>
          <a:prstGeom prst="rect">
            <a:avLst/>
          </a:prstGeom>
          <a:noFill/>
          <a:ln/>
        </p:spPr>
        <p:txBody>
          <a:bodyPr wrap="square" lIns="0" tIns="0" rIns="0" bIns="0" rtlCol="0" anchor="t"/>
          <a:lstStyle/>
          <a:p>
            <a:pPr indent="0" marL="0">
              <a:buNone/>
            </a:pPr>
            <a:r>
              <a:rPr lang="en-US" sz="1900" dirty="0">
                <a:solidFill>
                  <a:schemeClr val="tx1"/>
                </a:solidFill>
              </a:rPr>
              <a:t>The website, the app and its database are packed into containers, like a lunchbox with everything inside.</a:t>
            </a:r>
            <a:endParaRPr lang="en-US" sz="1900" dirty="0"/>
          </a:p>
        </p:txBody>
      </p:sp>
      <p:sp>
        <p:nvSpPr>
          <p:cNvPr id="4" name="Text 2"/>
          <p:cNvSpPr txBox="1"/>
          <p:nvPr/>
        </p:nvSpPr>
        <p:spPr>
          <a:xfrm>
            <a:off x="548640" y="3017520"/>
            <a:ext cx="4206240" cy="457200"/>
          </a:xfrm>
          <a:prstGeom prst="rect">
            <a:avLst/>
          </a:prstGeom>
          <a:noFill/>
          <a:ln/>
        </p:spPr>
        <p:txBody>
          <a:bodyPr wrap="square" lIns="0" tIns="0" rIns="0" bIns="0" rtlCol="0" anchor="t"/>
          <a:lstStyle/>
          <a:p>
            <a:pPr indent="0" marL="0">
              <a:buNone/>
            </a:pPr>
            <a:r>
              <a:rPr lang="en-US" sz="1700" dirty="0">
                <a:solidFill>
                  <a:schemeClr val="tx2"/>
                </a:solidFill>
              </a:rPr>
              <a:t>Nothing to install, nothing to forget.</a:t>
            </a:r>
            <a:endParaRPr lang="en-US" sz="1700" dirty="0"/>
          </a:p>
        </p:txBody>
      </p:sp>
      <p:sp>
        <p:nvSpPr>
          <p:cNvPr id="5" name="Text 3"/>
          <p:cNvSpPr txBox="1"/>
          <p:nvPr/>
        </p:nvSpPr>
        <p:spPr>
          <a:xfrm>
            <a:off x="548640" y="3886200"/>
            <a:ext cx="4206240" cy="868680"/>
          </a:xfrm>
          <a:prstGeom prst="rect">
            <a:avLst/>
          </a:prstGeom>
          <a:noFill/>
          <a:ln/>
        </p:spPr>
        <p:txBody>
          <a:bodyPr wrap="square" lIns="0" tIns="0" rIns="0" bIns="0" rtlCol="0" anchor="b"/>
          <a:lstStyle/>
          <a:p>
            <a:pPr indent="0" marL="0">
              <a:buNone/>
            </a:pPr>
            <a:r>
              <a:rPr lang="en-US" sz="5400" b="1" dirty="0">
                <a:solidFill>
                  <a:schemeClr val="accent1"/>
                </a:solidFill>
                <a:latin typeface="Georgia" pitchFamily="34" charset="0"/>
                <a:ea typeface="Georgia" pitchFamily="34" charset="-122"/>
                <a:cs typeface="Georgia" pitchFamily="34" charset="-120"/>
              </a:rPr>
              <a:t>1</a:t>
            </a:r>
            <a:endParaRPr lang="en-US" sz="5400" dirty="0"/>
          </a:p>
        </p:txBody>
      </p:sp>
      <p:sp>
        <p:nvSpPr>
          <p:cNvPr id="6" name="Text 4"/>
          <p:cNvSpPr txBox="1"/>
          <p:nvPr/>
        </p:nvSpPr>
        <p:spPr>
          <a:xfrm>
            <a:off x="548640" y="4800600"/>
            <a:ext cx="4206240" cy="640080"/>
          </a:xfrm>
          <a:prstGeom prst="rect">
            <a:avLst/>
          </a:prstGeom>
          <a:noFill/>
          <a:ln/>
        </p:spPr>
        <p:txBody>
          <a:bodyPr wrap="square" lIns="0" tIns="0" rIns="0" bIns="0" rtlCol="0" anchor="t"/>
          <a:lstStyle/>
          <a:p>
            <a:pPr indent="0" marL="0">
              <a:buNone/>
            </a:pPr>
            <a:r>
              <a:rPr lang="en-US" sz="1600" dirty="0">
                <a:solidFill>
                  <a:schemeClr val="tx2"/>
                </a:solidFill>
              </a:rPr>
              <a:t>command starts the whole app on any computer</a:t>
            </a:r>
            <a:endParaRPr lang="en-US" sz="1600" dirty="0"/>
          </a:p>
        </p:txBody>
      </p:sp>
      <p:sp>
        <p:nvSpPr>
          <p:cNvPr id="7" name="card 09-docker-compose-localhost-3000"/>
          <p:cNvSpPr/>
          <p:nvPr/>
        </p:nvSpPr>
        <p:spPr>
          <a:xfrm>
            <a:off x="5047488" y="1435608"/>
            <a:ext cx="6638544" cy="4232808"/>
          </a:xfrm>
          <a:prstGeom prst="roundRect">
            <a:avLst>
              <a:gd name="adj" fmla="val 2160"/>
            </a:avLst>
          </a:prstGeom>
          <a:solidFill>
            <a:schemeClr val="bg1"/>
          </a:solidFill>
          <a:ln w="12700">
            <a:solidFill>
              <a:schemeClr val="bg1"/>
            </a:solidFill>
            <a:prstDash val="solid"/>
          </a:ln>
          <a:effectLst>
            <a:outerShdw sx="100000" sy="100000" kx="0" ky="0" algn="bl" rotWithShape="0" blurRad="177800" dist="38100" dir="5400000">
              <a:srgbClr val="000000">
                <a:alpha val="14000"/>
              </a:srgbClr>
            </a:outerShdw>
          </a:effectLst>
        </p:spPr>
      </p:sp>
      <p:pic>
        <p:nvPicPr>
          <p:cNvPr id="8" name="screenshot 09-docker-compose-localhost-3000" descr="docker compose localhost 3000">    </p:cNvPr>
          <p:cNvPicPr>
            <a:picLocks noChangeAspect="1"/>
          </p:cNvPicPr>
          <p:nvPr/>
        </p:nvPicPr>
        <p:blipFill>
          <a:blip r:embed="rId1"/>
          <a:stretch>
            <a:fillRect/>
          </a:stretch>
        </p:blipFill>
        <p:spPr>
          <a:xfrm>
            <a:off x="5120640" y="1508760"/>
            <a:ext cx="6492240" cy="4086504"/>
          </a:xfrm>
          <a:prstGeom prst="rect">
            <a:avLst/>
          </a:prstGeom>
        </p:spPr>
      </p:pic>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Every version is saved</a:t>
            </a:r>
            <a:endParaRPr lang="en-US" sz="3600" dirty="0"/>
          </a:p>
        </p:txBody>
      </p:sp>
      <p:sp>
        <p:nvSpPr>
          <p:cNvPr id="3" name="card 29-ghcr-backend"/>
          <p:cNvSpPr/>
          <p:nvPr/>
        </p:nvSpPr>
        <p:spPr>
          <a:xfrm>
            <a:off x="475488" y="1435608"/>
            <a:ext cx="6638544" cy="4232808"/>
          </a:xfrm>
          <a:prstGeom prst="roundRect">
            <a:avLst>
              <a:gd name="adj" fmla="val 2160"/>
            </a:avLst>
          </a:prstGeom>
          <a:solidFill>
            <a:schemeClr val="bg1"/>
          </a:solidFill>
          <a:ln w="12700">
            <a:solidFill>
              <a:schemeClr val="bg1"/>
            </a:solidFill>
            <a:prstDash val="solid"/>
          </a:ln>
          <a:effectLst>
            <a:outerShdw sx="100000" sy="100000" kx="0" ky="0" algn="bl" rotWithShape="0" blurRad="177800" dist="38100" dir="5400000">
              <a:srgbClr val="000000">
                <a:alpha val="14000"/>
              </a:srgbClr>
            </a:outerShdw>
          </a:effectLst>
        </p:spPr>
      </p:sp>
      <p:pic>
        <p:nvPicPr>
          <p:cNvPr id="4" name="screenshot 29-ghcr-backend" descr="ghcr backend">    </p:cNvPr>
          <p:cNvPicPr>
            <a:picLocks noChangeAspect="1"/>
          </p:cNvPicPr>
          <p:nvPr/>
        </p:nvPicPr>
        <p:blipFill>
          <a:blip r:embed="rId1"/>
          <a:stretch>
            <a:fillRect/>
          </a:stretch>
        </p:blipFill>
        <p:spPr>
          <a:xfrm>
            <a:off x="548640" y="1508760"/>
            <a:ext cx="6492240" cy="4086504"/>
          </a:xfrm>
          <a:prstGeom prst="rect">
            <a:avLst/>
          </a:prstGeom>
        </p:spPr>
      </p:pic>
      <p:sp>
        <p:nvSpPr>
          <p:cNvPr id="5" name="Text 2"/>
          <p:cNvSpPr txBox="1"/>
          <p:nvPr/>
        </p:nvSpPr>
        <p:spPr>
          <a:xfrm>
            <a:off x="7498080" y="1508760"/>
            <a:ext cx="4114800" cy="1737360"/>
          </a:xfrm>
          <a:prstGeom prst="rect">
            <a:avLst/>
          </a:prstGeom>
          <a:noFill/>
          <a:ln/>
        </p:spPr>
        <p:txBody>
          <a:bodyPr wrap="square" lIns="0" tIns="0" rIns="0" bIns="0" rtlCol="0" anchor="t"/>
          <a:lstStyle/>
          <a:p>
            <a:pPr indent="0" marL="0">
              <a:buNone/>
            </a:pPr>
            <a:r>
              <a:rPr lang="en-US" sz="1900" dirty="0">
                <a:solidFill>
                  <a:schemeClr val="tx1"/>
                </a:solidFill>
              </a:rPr>
              <a:t>Each version is stored with a label that points to the exact change it came from, a bit like version history in Google Docs.</a:t>
            </a:r>
            <a:endParaRPr lang="en-US" sz="1900" dirty="0"/>
          </a:p>
        </p:txBody>
      </p:sp>
      <p:sp>
        <p:nvSpPr>
          <p:cNvPr id="6" name="icon circle"/>
          <p:cNvSpPr/>
          <p:nvPr/>
        </p:nvSpPr>
        <p:spPr>
          <a:xfrm>
            <a:off x="7498080" y="3611880"/>
            <a:ext cx="594360" cy="594360"/>
          </a:xfrm>
          <a:prstGeom prst="ellipse">
            <a:avLst/>
          </a:prstGeom>
          <a:solidFill>
            <a:schemeClr val="accent2"/>
          </a:solidFill>
          <a:ln w="12700">
            <a:solidFill>
              <a:schemeClr val="accent2"/>
            </a:solidFill>
            <a:prstDash val="solid"/>
          </a:ln>
        </p:spPr>
      </p:sp>
      <p:pic>
        <p:nvPicPr>
          <p:cNvPr id="7" name="icon" descr="preencoded.png">    </p:cNvPr>
          <p:cNvPicPr>
            <a:picLocks noChangeAspect="1"/>
          </p:cNvPicPr>
          <p:nvPr/>
        </p:nvPicPr>
        <p:blipFill>
          <a:blip r:embed="rId2"/>
          <a:stretch>
            <a:fillRect/>
          </a:stretch>
        </p:blipFill>
        <p:spPr>
          <a:xfrm>
            <a:off x="7658557" y="3772357"/>
            <a:ext cx="273406" cy="273406"/>
          </a:xfrm>
          <a:prstGeom prst="rect">
            <a:avLst/>
          </a:prstGeom>
        </p:spPr>
      </p:pic>
      <p:sp>
        <p:nvSpPr>
          <p:cNvPr id="8" name="Text 4"/>
          <p:cNvSpPr txBox="1"/>
          <p:nvPr/>
        </p:nvSpPr>
        <p:spPr>
          <a:xfrm>
            <a:off x="8275320" y="3611880"/>
            <a:ext cx="3337560" cy="594360"/>
          </a:xfrm>
          <a:prstGeom prst="rect">
            <a:avLst/>
          </a:prstGeom>
          <a:noFill/>
          <a:ln/>
        </p:spPr>
        <p:txBody>
          <a:bodyPr wrap="square" lIns="0" tIns="0" rIns="0" bIns="0" rtlCol="0" anchor="ctr"/>
          <a:lstStyle/>
          <a:p>
            <a:pPr indent="0" marL="0">
              <a:buNone/>
            </a:pPr>
            <a:r>
              <a:rPr lang="en-US" sz="1700" b="1" dirty="0">
                <a:solidFill>
                  <a:schemeClr val="tx1"/>
                </a:solidFill>
              </a:rPr>
              <a:t>Always know what's live</a:t>
            </a:r>
            <a:endParaRPr lang="en-US" sz="1700" dirty="0"/>
          </a:p>
        </p:txBody>
      </p:sp>
      <p:sp>
        <p:nvSpPr>
          <p:cNvPr id="9" name="icon circle"/>
          <p:cNvSpPr/>
          <p:nvPr/>
        </p:nvSpPr>
        <p:spPr>
          <a:xfrm>
            <a:off x="7498080" y="4572000"/>
            <a:ext cx="594360" cy="594360"/>
          </a:xfrm>
          <a:prstGeom prst="ellipse">
            <a:avLst/>
          </a:prstGeom>
          <a:solidFill>
            <a:schemeClr val="accent2"/>
          </a:solidFill>
          <a:ln w="12700">
            <a:solidFill>
              <a:schemeClr val="accent2"/>
            </a:solidFill>
            <a:prstDash val="solid"/>
          </a:ln>
        </p:spPr>
      </p:sp>
      <p:pic>
        <p:nvPicPr>
          <p:cNvPr id="10" name="icon" descr="preencoded.png">    </p:cNvPr>
          <p:cNvPicPr>
            <a:picLocks noChangeAspect="1"/>
          </p:cNvPicPr>
          <p:nvPr/>
        </p:nvPicPr>
        <p:blipFill>
          <a:blip r:embed="rId3"/>
          <a:stretch>
            <a:fillRect/>
          </a:stretch>
        </p:blipFill>
        <p:spPr>
          <a:xfrm>
            <a:off x="7658557" y="4732477"/>
            <a:ext cx="273406" cy="273406"/>
          </a:xfrm>
          <a:prstGeom prst="rect">
            <a:avLst/>
          </a:prstGeom>
        </p:spPr>
      </p:pic>
      <p:sp>
        <p:nvSpPr>
          <p:cNvPr id="11" name="Text 6"/>
          <p:cNvSpPr txBox="1"/>
          <p:nvPr/>
        </p:nvSpPr>
        <p:spPr>
          <a:xfrm>
            <a:off x="8275320" y="4572000"/>
            <a:ext cx="3337560" cy="594360"/>
          </a:xfrm>
          <a:prstGeom prst="rect">
            <a:avLst/>
          </a:prstGeom>
          <a:noFill/>
          <a:ln/>
        </p:spPr>
        <p:txBody>
          <a:bodyPr wrap="square" lIns="0" tIns="0" rIns="0" bIns="0" rtlCol="0" anchor="ctr"/>
          <a:lstStyle/>
          <a:p>
            <a:pPr indent="0" marL="0">
              <a:buNone/>
            </a:pPr>
            <a:r>
              <a:rPr lang="en-US" sz="1700" b="1" dirty="0">
                <a:solidFill>
                  <a:schemeClr val="tx1"/>
                </a:solidFill>
              </a:rPr>
              <a:t>Easy to go back if something breaks</a:t>
            </a:r>
            <a:endParaRPr lang="en-US" sz="17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Servers built from a recipe</a:t>
            </a:r>
            <a:endParaRPr lang="en-US" sz="3600" dirty="0"/>
          </a:p>
        </p:txBody>
      </p:sp>
      <p:sp>
        <p:nvSpPr>
          <p:cNvPr id="3" name="Text 1"/>
          <p:cNvSpPr txBox="1"/>
          <p:nvPr/>
        </p:nvSpPr>
        <p:spPr>
          <a:xfrm>
            <a:off x="548640" y="1508760"/>
            <a:ext cx="4297680" cy="1737360"/>
          </a:xfrm>
          <a:prstGeom prst="rect">
            <a:avLst/>
          </a:prstGeom>
          <a:noFill/>
          <a:ln/>
        </p:spPr>
        <p:txBody>
          <a:bodyPr wrap="square" lIns="0" tIns="0" rIns="0" bIns="0" rtlCol="0" anchor="t"/>
          <a:lstStyle/>
          <a:p>
            <a:pPr indent="0" marL="0">
              <a:buNone/>
            </a:pPr>
            <a:r>
              <a:rPr lang="en-US" sz="1900" dirty="0">
                <a:solidFill>
                  <a:schemeClr val="tx1"/>
                </a:solidFill>
              </a:rPr>
              <a:t>Instead of clicking around, I wrote down what the servers should look like. The same recipe builds them, and removes them.</a:t>
            </a:r>
            <a:endParaRPr lang="en-US" sz="1900" dirty="0"/>
          </a:p>
        </p:txBody>
      </p:sp>
      <p:sp>
        <p:nvSpPr>
          <p:cNvPr id="4" name="Text 2"/>
          <p:cNvSpPr txBox="1"/>
          <p:nvPr/>
        </p:nvSpPr>
        <p:spPr>
          <a:xfrm>
            <a:off x="548640" y="3291840"/>
            <a:ext cx="4297680" cy="868680"/>
          </a:xfrm>
          <a:prstGeom prst="rect">
            <a:avLst/>
          </a:prstGeom>
          <a:noFill/>
          <a:ln/>
        </p:spPr>
        <p:txBody>
          <a:bodyPr wrap="square" lIns="0" tIns="0" rIns="0" bIns="0" rtlCol="0" anchor="b"/>
          <a:lstStyle/>
          <a:p>
            <a:pPr indent="0" marL="0">
              <a:buNone/>
            </a:pPr>
            <a:r>
              <a:rPr lang="en-US" sz="4400" b="1" dirty="0">
                <a:solidFill>
                  <a:schemeClr val="accent1"/>
                </a:solidFill>
                <a:latin typeface="Georgia" pitchFamily="34" charset="0"/>
                <a:ea typeface="Georgia" pitchFamily="34" charset="-122"/>
                <a:cs typeface="Georgia" pitchFamily="34" charset="-120"/>
              </a:rPr>
              <a:t>12 min</a:t>
            </a:r>
            <a:endParaRPr lang="en-US" sz="4400" dirty="0"/>
          </a:p>
        </p:txBody>
      </p:sp>
      <p:sp>
        <p:nvSpPr>
          <p:cNvPr id="5" name="Text 3"/>
          <p:cNvSpPr txBox="1"/>
          <p:nvPr/>
        </p:nvSpPr>
        <p:spPr>
          <a:xfrm>
            <a:off x="548640" y="4206240"/>
            <a:ext cx="4297680" cy="640080"/>
          </a:xfrm>
          <a:prstGeom prst="rect">
            <a:avLst/>
          </a:prstGeom>
          <a:noFill/>
          <a:ln/>
        </p:spPr>
        <p:txBody>
          <a:bodyPr wrap="square" lIns="0" tIns="0" rIns="0" bIns="0" rtlCol="0" anchor="t"/>
          <a:lstStyle/>
          <a:p>
            <a:pPr indent="0" marL="0">
              <a:buNone/>
            </a:pPr>
            <a:r>
              <a:rPr lang="en-US" sz="1600" dirty="0">
                <a:solidFill>
                  <a:schemeClr val="tx2"/>
                </a:solidFill>
              </a:rPr>
              <a:t>to build everything on Amazon's cloud</a:t>
            </a:r>
            <a:endParaRPr lang="en-US" sz="1600" dirty="0"/>
          </a:p>
        </p:txBody>
      </p:sp>
      <p:sp>
        <p:nvSpPr>
          <p:cNvPr id="6" name="Text 4"/>
          <p:cNvSpPr txBox="1"/>
          <p:nvPr/>
        </p:nvSpPr>
        <p:spPr>
          <a:xfrm>
            <a:off x="548640" y="4754880"/>
            <a:ext cx="4297680" cy="868680"/>
          </a:xfrm>
          <a:prstGeom prst="rect">
            <a:avLst/>
          </a:prstGeom>
          <a:noFill/>
          <a:ln/>
        </p:spPr>
        <p:txBody>
          <a:bodyPr wrap="square" lIns="0" tIns="0" rIns="0" bIns="0" rtlCol="0" anchor="b"/>
          <a:lstStyle/>
          <a:p>
            <a:pPr indent="0" marL="0">
              <a:buNone/>
            </a:pPr>
            <a:r>
              <a:rPr lang="en-US" sz="4400" b="1" dirty="0">
                <a:solidFill>
                  <a:schemeClr val="accent1"/>
                </a:solidFill>
                <a:latin typeface="Georgia" pitchFamily="34" charset="0"/>
                <a:ea typeface="Georgia" pitchFamily="34" charset="-122"/>
                <a:cs typeface="Georgia" pitchFamily="34" charset="-120"/>
              </a:rPr>
              <a:t>&lt; $0.20</a:t>
            </a:r>
            <a:endParaRPr lang="en-US" sz="4400" dirty="0"/>
          </a:p>
        </p:txBody>
      </p:sp>
      <p:sp>
        <p:nvSpPr>
          <p:cNvPr id="7" name="Text 5"/>
          <p:cNvSpPr txBox="1"/>
          <p:nvPr/>
        </p:nvSpPr>
        <p:spPr>
          <a:xfrm>
            <a:off x="548640" y="5669280"/>
            <a:ext cx="4297680" cy="640080"/>
          </a:xfrm>
          <a:prstGeom prst="rect">
            <a:avLst/>
          </a:prstGeom>
          <a:noFill/>
          <a:ln/>
        </p:spPr>
        <p:txBody>
          <a:bodyPr wrap="square" lIns="0" tIns="0" rIns="0" bIns="0" rtlCol="0" anchor="t"/>
          <a:lstStyle/>
          <a:p>
            <a:pPr indent="0" marL="0">
              <a:buNone/>
            </a:pPr>
            <a:r>
              <a:rPr lang="en-US" sz="1600" dirty="0">
                <a:solidFill>
                  <a:schemeClr val="tx2"/>
                </a:solidFill>
              </a:rPr>
              <a:t>total cost, removed the same day</a:t>
            </a:r>
            <a:endParaRPr lang="en-US" sz="1600" dirty="0"/>
          </a:p>
        </p:txBody>
      </p:sp>
      <p:sp>
        <p:nvSpPr>
          <p:cNvPr id="8" name="card 26-aws-eks-cluster"/>
          <p:cNvSpPr/>
          <p:nvPr/>
        </p:nvSpPr>
        <p:spPr>
          <a:xfrm>
            <a:off x="5184648" y="1435608"/>
            <a:ext cx="6501384" cy="3838052"/>
          </a:xfrm>
          <a:prstGeom prst="roundRect">
            <a:avLst>
              <a:gd name="adj" fmla="val 2382"/>
            </a:avLst>
          </a:prstGeom>
          <a:solidFill>
            <a:schemeClr val="bg1"/>
          </a:solidFill>
          <a:ln w="12700">
            <a:solidFill>
              <a:schemeClr val="bg1"/>
            </a:solidFill>
            <a:prstDash val="solid"/>
          </a:ln>
          <a:effectLst>
            <a:outerShdw sx="100000" sy="100000" kx="0" ky="0" algn="bl" rotWithShape="0" blurRad="177800" dist="38100" dir="5400000">
              <a:srgbClr val="000000">
                <a:alpha val="14000"/>
              </a:srgbClr>
            </a:outerShdw>
          </a:effectLst>
        </p:spPr>
      </p:sp>
      <p:pic>
        <p:nvPicPr>
          <p:cNvPr id="9" name="screenshot 26-aws-eks-cluster" descr="aws eks cluster">    </p:cNvPr>
          <p:cNvPicPr>
            <a:picLocks noChangeAspect="1"/>
          </p:cNvPicPr>
          <p:nvPr/>
        </p:nvPicPr>
        <p:blipFill>
          <a:blip r:embed="rId1"/>
          <a:stretch>
            <a:fillRect/>
          </a:stretch>
        </p:blipFill>
        <p:spPr>
          <a:xfrm>
            <a:off x="5257800" y="1508760"/>
            <a:ext cx="6355080" cy="3691748"/>
          </a:xfrm>
          <a:prstGeom prst="rect">
            <a:avLst/>
          </a:prstGeom>
        </p:spPr>
      </p:pic>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Stays up, even when it's busy</a:t>
            </a:r>
            <a:endParaRPr lang="en-US" sz="3600" dirty="0"/>
          </a:p>
        </p:txBody>
      </p:sp>
      <p:sp>
        <p:nvSpPr>
          <p:cNvPr id="3" name="Text 1"/>
          <p:cNvSpPr txBox="1"/>
          <p:nvPr/>
        </p:nvSpPr>
        <p:spPr>
          <a:xfrm>
            <a:off x="548640" y="1508760"/>
            <a:ext cx="4480560" cy="1188720"/>
          </a:xfrm>
          <a:prstGeom prst="rect">
            <a:avLst/>
          </a:prstGeom>
          <a:noFill/>
          <a:ln/>
        </p:spPr>
        <p:txBody>
          <a:bodyPr wrap="square" lIns="0" tIns="0" rIns="0" bIns="0" rtlCol="0" anchor="t"/>
          <a:lstStyle/>
          <a:p>
            <a:pPr indent="0" marL="0">
              <a:buNone/>
            </a:pPr>
            <a:r>
              <a:rPr lang="en-US" sz="1900" dirty="0">
                <a:solidFill>
                  <a:schemeClr val="tx1"/>
                </a:solidFill>
              </a:rPr>
              <a:t>Two copies of the app are always running, so if one stops, the other carries on.</a:t>
            </a:r>
            <a:endParaRPr lang="en-US" sz="1900" dirty="0"/>
          </a:p>
        </p:txBody>
      </p:sp>
      <p:sp>
        <p:nvSpPr>
          <p:cNvPr id="4" name="Text 2"/>
          <p:cNvSpPr txBox="1"/>
          <p:nvPr/>
        </p:nvSpPr>
        <p:spPr>
          <a:xfrm>
            <a:off x="548640" y="2788920"/>
            <a:ext cx="4480560" cy="1188720"/>
          </a:xfrm>
          <a:prstGeom prst="rect">
            <a:avLst/>
          </a:prstGeom>
          <a:noFill/>
          <a:ln/>
        </p:spPr>
        <p:txBody>
          <a:bodyPr wrap="square" lIns="0" tIns="0" rIns="0" bIns="0" rtlCol="0" anchor="t"/>
          <a:lstStyle/>
          <a:p>
            <a:pPr indent="0" marL="0">
              <a:buNone/>
            </a:pPr>
            <a:r>
              <a:rPr lang="en-US" sz="1700" dirty="0">
                <a:solidFill>
                  <a:schemeClr val="tx2"/>
                </a:solidFill>
              </a:rPr>
              <a:t>When lots of people show up, more copies start on their own, and go away again when it's quiet.</a:t>
            </a:r>
            <a:endParaRPr lang="en-US" sz="1700" dirty="0"/>
          </a:p>
        </p:txBody>
      </p:sp>
      <p:sp>
        <p:nvSpPr>
          <p:cNvPr id="5" name="copies card"/>
          <p:cNvSpPr/>
          <p:nvPr/>
        </p:nvSpPr>
        <p:spPr>
          <a:xfrm>
            <a:off x="5394960" y="1600200"/>
            <a:ext cx="6217920" cy="1920240"/>
          </a:xfrm>
          <a:prstGeom prst="roundRect">
            <a:avLst>
              <a:gd name="adj" fmla="val 6667"/>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6" name="Text 4"/>
          <p:cNvSpPr txBox="1"/>
          <p:nvPr/>
        </p:nvSpPr>
        <p:spPr>
          <a:xfrm>
            <a:off x="5920740" y="1828800"/>
            <a:ext cx="3200400" cy="411480"/>
          </a:xfrm>
          <a:prstGeom prst="rect">
            <a:avLst/>
          </a:prstGeom>
          <a:noFill/>
          <a:ln/>
        </p:spPr>
        <p:txBody>
          <a:bodyPr wrap="square" lIns="0" tIns="0" rIns="0" bIns="0" rtlCol="0" anchor="t"/>
          <a:lstStyle/>
          <a:p>
            <a:pPr indent="0" marL="0">
              <a:buNone/>
            </a:pPr>
            <a:r>
              <a:rPr lang="en-US" sz="1800" b="1" dirty="0">
                <a:solidFill>
                  <a:schemeClr val="tx1"/>
                </a:solidFill>
                <a:latin typeface="Georgia" pitchFamily="34" charset="0"/>
                <a:ea typeface="Georgia" pitchFamily="34" charset="-122"/>
                <a:cs typeface="Georgia" pitchFamily="34" charset="-120"/>
              </a:rPr>
              <a:t>A normal day</a:t>
            </a:r>
            <a:endParaRPr lang="en-US" sz="1800" dirty="0"/>
          </a:p>
        </p:txBody>
      </p:sp>
      <p:sp>
        <p:nvSpPr>
          <p:cNvPr id="7" name="Text 5"/>
          <p:cNvSpPr txBox="1"/>
          <p:nvPr/>
        </p:nvSpPr>
        <p:spPr>
          <a:xfrm>
            <a:off x="8343900" y="1828800"/>
            <a:ext cx="2743200" cy="411480"/>
          </a:xfrm>
          <a:prstGeom prst="rect">
            <a:avLst/>
          </a:prstGeom>
          <a:noFill/>
          <a:ln/>
        </p:spPr>
        <p:txBody>
          <a:bodyPr wrap="square" lIns="0" tIns="0" rIns="0" bIns="0" rtlCol="0" anchor="t"/>
          <a:lstStyle/>
          <a:p>
            <a:pPr algn="r" indent="0" marL="0">
              <a:buNone/>
            </a:pPr>
            <a:r>
              <a:rPr lang="en-US" sz="1800" b="1" dirty="0">
                <a:solidFill>
                  <a:schemeClr val="accent2"/>
                </a:solidFill>
              </a:rPr>
              <a:t>2 copies</a:t>
            </a:r>
            <a:endParaRPr lang="en-US" sz="1800" dirty="0"/>
          </a:p>
        </p:txBody>
      </p:sp>
      <p:sp>
        <p:nvSpPr>
          <p:cNvPr id="8" name="icon circle"/>
          <p:cNvSpPr/>
          <p:nvPr/>
        </p:nvSpPr>
        <p:spPr>
          <a:xfrm>
            <a:off x="5920740" y="2423160"/>
            <a:ext cx="777240" cy="777240"/>
          </a:xfrm>
          <a:prstGeom prst="ellipse">
            <a:avLst/>
          </a:prstGeom>
          <a:solidFill>
            <a:schemeClr val="accent2"/>
          </a:solidFill>
          <a:ln w="12700">
            <a:solidFill>
              <a:schemeClr val="accent2"/>
            </a:solidFill>
            <a:prstDash val="solid"/>
          </a:ln>
        </p:spPr>
      </p:sp>
      <p:pic>
        <p:nvPicPr>
          <p:cNvPr id="9" name="icon" descr="preencoded.png">    </p:cNvPr>
          <p:cNvPicPr>
            <a:picLocks noChangeAspect="1"/>
          </p:cNvPicPr>
          <p:nvPr/>
        </p:nvPicPr>
        <p:blipFill>
          <a:blip r:embed="rId1"/>
          <a:stretch>
            <a:fillRect/>
          </a:stretch>
        </p:blipFill>
        <p:spPr>
          <a:xfrm>
            <a:off x="6130595" y="2633015"/>
            <a:ext cx="357530" cy="357530"/>
          </a:xfrm>
          <a:prstGeom prst="rect">
            <a:avLst/>
          </a:prstGeom>
        </p:spPr>
      </p:pic>
      <p:sp>
        <p:nvSpPr>
          <p:cNvPr id="10" name="icon circle"/>
          <p:cNvSpPr/>
          <p:nvPr/>
        </p:nvSpPr>
        <p:spPr>
          <a:xfrm>
            <a:off x="7018020" y="2423160"/>
            <a:ext cx="777240" cy="777240"/>
          </a:xfrm>
          <a:prstGeom prst="ellipse">
            <a:avLst/>
          </a:prstGeom>
          <a:solidFill>
            <a:schemeClr val="accent2"/>
          </a:solidFill>
          <a:ln w="12700">
            <a:solidFill>
              <a:schemeClr val="accent2"/>
            </a:solidFill>
            <a:prstDash val="solid"/>
          </a:ln>
        </p:spPr>
      </p:sp>
      <p:pic>
        <p:nvPicPr>
          <p:cNvPr id="11" name="icon" descr="preencoded.png">    </p:cNvPr>
          <p:cNvPicPr>
            <a:picLocks noChangeAspect="1"/>
          </p:cNvPicPr>
          <p:nvPr/>
        </p:nvPicPr>
        <p:blipFill>
          <a:blip r:embed="rId2"/>
          <a:stretch>
            <a:fillRect/>
          </a:stretch>
        </p:blipFill>
        <p:spPr>
          <a:xfrm>
            <a:off x="7227875" y="2633015"/>
            <a:ext cx="357530" cy="357530"/>
          </a:xfrm>
          <a:prstGeom prst="rect">
            <a:avLst/>
          </a:prstGeom>
        </p:spPr>
      </p:pic>
      <p:sp>
        <p:nvSpPr>
          <p:cNvPr id="12" name="icon circle"/>
          <p:cNvSpPr/>
          <p:nvPr/>
        </p:nvSpPr>
        <p:spPr>
          <a:xfrm>
            <a:off x="8115300" y="2423160"/>
            <a:ext cx="777240" cy="777240"/>
          </a:xfrm>
          <a:prstGeom prst="ellipse">
            <a:avLst/>
          </a:prstGeom>
          <a:solidFill>
            <a:schemeClr val="bg2"/>
          </a:solidFill>
          <a:ln w="12700">
            <a:solidFill>
              <a:schemeClr val="bg2"/>
            </a:solidFill>
            <a:prstDash val="solid"/>
          </a:ln>
        </p:spPr>
      </p:sp>
      <p:pic>
        <p:nvPicPr>
          <p:cNvPr id="13" name="icon" descr="preencoded.png">    </p:cNvPr>
          <p:cNvPicPr>
            <a:picLocks noChangeAspect="1"/>
          </p:cNvPicPr>
          <p:nvPr/>
        </p:nvPicPr>
        <p:blipFill>
          <a:blip r:embed="rId3"/>
          <a:stretch>
            <a:fillRect/>
          </a:stretch>
        </p:blipFill>
        <p:spPr>
          <a:xfrm>
            <a:off x="8325155" y="2633015"/>
            <a:ext cx="357530" cy="357530"/>
          </a:xfrm>
          <a:prstGeom prst="rect">
            <a:avLst/>
          </a:prstGeom>
        </p:spPr>
      </p:pic>
      <p:sp>
        <p:nvSpPr>
          <p:cNvPr id="14" name="icon circle"/>
          <p:cNvSpPr/>
          <p:nvPr/>
        </p:nvSpPr>
        <p:spPr>
          <a:xfrm>
            <a:off x="9212580" y="2423160"/>
            <a:ext cx="777240" cy="777240"/>
          </a:xfrm>
          <a:prstGeom prst="ellipse">
            <a:avLst/>
          </a:prstGeom>
          <a:solidFill>
            <a:schemeClr val="bg2"/>
          </a:solidFill>
          <a:ln w="12700">
            <a:solidFill>
              <a:schemeClr val="bg2"/>
            </a:solidFill>
            <a:prstDash val="solid"/>
          </a:ln>
        </p:spPr>
      </p:sp>
      <p:pic>
        <p:nvPicPr>
          <p:cNvPr id="15" name="icon" descr="preencoded.png">    </p:cNvPr>
          <p:cNvPicPr>
            <a:picLocks noChangeAspect="1"/>
          </p:cNvPicPr>
          <p:nvPr/>
        </p:nvPicPr>
        <p:blipFill>
          <a:blip r:embed="rId4"/>
          <a:stretch>
            <a:fillRect/>
          </a:stretch>
        </p:blipFill>
        <p:spPr>
          <a:xfrm>
            <a:off x="9422435" y="2633015"/>
            <a:ext cx="357530" cy="357530"/>
          </a:xfrm>
          <a:prstGeom prst="rect">
            <a:avLst/>
          </a:prstGeom>
        </p:spPr>
      </p:pic>
      <p:sp>
        <p:nvSpPr>
          <p:cNvPr id="16" name="icon circle"/>
          <p:cNvSpPr/>
          <p:nvPr/>
        </p:nvSpPr>
        <p:spPr>
          <a:xfrm>
            <a:off x="10309860" y="2423160"/>
            <a:ext cx="777240" cy="777240"/>
          </a:xfrm>
          <a:prstGeom prst="ellipse">
            <a:avLst/>
          </a:prstGeom>
          <a:solidFill>
            <a:schemeClr val="bg2"/>
          </a:solidFill>
          <a:ln w="12700">
            <a:solidFill>
              <a:schemeClr val="bg2"/>
            </a:solidFill>
            <a:prstDash val="solid"/>
          </a:ln>
        </p:spPr>
      </p:sp>
      <p:pic>
        <p:nvPicPr>
          <p:cNvPr id="17" name="icon" descr="preencoded.png">    </p:cNvPr>
          <p:cNvPicPr>
            <a:picLocks noChangeAspect="1"/>
          </p:cNvPicPr>
          <p:nvPr/>
        </p:nvPicPr>
        <p:blipFill>
          <a:blip r:embed="rId5"/>
          <a:stretch>
            <a:fillRect/>
          </a:stretch>
        </p:blipFill>
        <p:spPr>
          <a:xfrm>
            <a:off x="10519715" y="2633015"/>
            <a:ext cx="357530" cy="357530"/>
          </a:xfrm>
          <a:prstGeom prst="rect">
            <a:avLst/>
          </a:prstGeom>
        </p:spPr>
      </p:pic>
      <p:sp>
        <p:nvSpPr>
          <p:cNvPr id="18" name="copies card"/>
          <p:cNvSpPr/>
          <p:nvPr/>
        </p:nvSpPr>
        <p:spPr>
          <a:xfrm>
            <a:off x="5394960" y="3886200"/>
            <a:ext cx="6217920" cy="1920240"/>
          </a:xfrm>
          <a:prstGeom prst="roundRect">
            <a:avLst>
              <a:gd name="adj" fmla="val 6667"/>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19" name="Text 12"/>
          <p:cNvSpPr txBox="1"/>
          <p:nvPr/>
        </p:nvSpPr>
        <p:spPr>
          <a:xfrm>
            <a:off x="5920740" y="4114800"/>
            <a:ext cx="3200400" cy="411480"/>
          </a:xfrm>
          <a:prstGeom prst="rect">
            <a:avLst/>
          </a:prstGeom>
          <a:noFill/>
          <a:ln/>
        </p:spPr>
        <p:txBody>
          <a:bodyPr wrap="square" lIns="0" tIns="0" rIns="0" bIns="0" rtlCol="0" anchor="t"/>
          <a:lstStyle/>
          <a:p>
            <a:pPr indent="0" marL="0">
              <a:buNone/>
            </a:pPr>
            <a:r>
              <a:rPr lang="en-US" sz="1800" b="1" dirty="0">
                <a:solidFill>
                  <a:schemeClr val="tx1"/>
                </a:solidFill>
                <a:latin typeface="Georgia" pitchFamily="34" charset="0"/>
                <a:ea typeface="Georgia" pitchFamily="34" charset="-122"/>
                <a:cs typeface="Georgia" pitchFamily="34" charset="-120"/>
              </a:rPr>
              <a:t>A busy day</a:t>
            </a:r>
            <a:endParaRPr lang="en-US" sz="1800" dirty="0"/>
          </a:p>
        </p:txBody>
      </p:sp>
      <p:sp>
        <p:nvSpPr>
          <p:cNvPr id="20" name="Text 13"/>
          <p:cNvSpPr txBox="1"/>
          <p:nvPr/>
        </p:nvSpPr>
        <p:spPr>
          <a:xfrm>
            <a:off x="8343900" y="4114800"/>
            <a:ext cx="2743200" cy="411480"/>
          </a:xfrm>
          <a:prstGeom prst="rect">
            <a:avLst/>
          </a:prstGeom>
          <a:noFill/>
          <a:ln/>
        </p:spPr>
        <p:txBody>
          <a:bodyPr wrap="square" lIns="0" tIns="0" rIns="0" bIns="0" rtlCol="0" anchor="t"/>
          <a:lstStyle/>
          <a:p>
            <a:pPr algn="r" indent="0" marL="0">
              <a:buNone/>
            </a:pPr>
            <a:r>
              <a:rPr lang="en-US" sz="1800" b="1" dirty="0">
                <a:solidFill>
                  <a:schemeClr val="accent1"/>
                </a:solidFill>
              </a:rPr>
              <a:t>5 copies</a:t>
            </a:r>
            <a:endParaRPr lang="en-US" sz="1800" dirty="0"/>
          </a:p>
        </p:txBody>
      </p:sp>
      <p:sp>
        <p:nvSpPr>
          <p:cNvPr id="21" name="icon circle"/>
          <p:cNvSpPr/>
          <p:nvPr/>
        </p:nvSpPr>
        <p:spPr>
          <a:xfrm>
            <a:off x="5920740" y="4709160"/>
            <a:ext cx="777240" cy="777240"/>
          </a:xfrm>
          <a:prstGeom prst="ellipse">
            <a:avLst/>
          </a:prstGeom>
          <a:solidFill>
            <a:schemeClr val="accent1"/>
          </a:solidFill>
          <a:ln w="12700">
            <a:solidFill>
              <a:schemeClr val="accent1"/>
            </a:solidFill>
            <a:prstDash val="solid"/>
          </a:ln>
        </p:spPr>
      </p:sp>
      <p:pic>
        <p:nvPicPr>
          <p:cNvPr id="22" name="icon" descr="preencoded.png">    </p:cNvPr>
          <p:cNvPicPr>
            <a:picLocks noChangeAspect="1"/>
          </p:cNvPicPr>
          <p:nvPr/>
        </p:nvPicPr>
        <p:blipFill>
          <a:blip r:embed="rId6"/>
          <a:stretch>
            <a:fillRect/>
          </a:stretch>
        </p:blipFill>
        <p:spPr>
          <a:xfrm>
            <a:off x="6130595" y="4919015"/>
            <a:ext cx="357530" cy="357530"/>
          </a:xfrm>
          <a:prstGeom prst="rect">
            <a:avLst/>
          </a:prstGeom>
        </p:spPr>
      </p:pic>
      <p:sp>
        <p:nvSpPr>
          <p:cNvPr id="23" name="icon circle"/>
          <p:cNvSpPr/>
          <p:nvPr/>
        </p:nvSpPr>
        <p:spPr>
          <a:xfrm>
            <a:off x="7018020" y="4709160"/>
            <a:ext cx="777240" cy="777240"/>
          </a:xfrm>
          <a:prstGeom prst="ellipse">
            <a:avLst/>
          </a:prstGeom>
          <a:solidFill>
            <a:schemeClr val="accent1"/>
          </a:solidFill>
          <a:ln w="12700">
            <a:solidFill>
              <a:schemeClr val="accent1"/>
            </a:solidFill>
            <a:prstDash val="solid"/>
          </a:ln>
        </p:spPr>
      </p:sp>
      <p:pic>
        <p:nvPicPr>
          <p:cNvPr id="24" name="icon" descr="preencoded.png">    </p:cNvPr>
          <p:cNvPicPr>
            <a:picLocks noChangeAspect="1"/>
          </p:cNvPicPr>
          <p:nvPr/>
        </p:nvPicPr>
        <p:blipFill>
          <a:blip r:embed="rId7"/>
          <a:stretch>
            <a:fillRect/>
          </a:stretch>
        </p:blipFill>
        <p:spPr>
          <a:xfrm>
            <a:off x="7227875" y="4919015"/>
            <a:ext cx="357530" cy="357530"/>
          </a:xfrm>
          <a:prstGeom prst="rect">
            <a:avLst/>
          </a:prstGeom>
        </p:spPr>
      </p:pic>
      <p:sp>
        <p:nvSpPr>
          <p:cNvPr id="25" name="icon circle"/>
          <p:cNvSpPr/>
          <p:nvPr/>
        </p:nvSpPr>
        <p:spPr>
          <a:xfrm>
            <a:off x="8115300" y="4709160"/>
            <a:ext cx="777240" cy="777240"/>
          </a:xfrm>
          <a:prstGeom prst="ellipse">
            <a:avLst/>
          </a:prstGeom>
          <a:solidFill>
            <a:schemeClr val="accent1"/>
          </a:solidFill>
          <a:ln w="12700">
            <a:solidFill>
              <a:schemeClr val="accent1"/>
            </a:solidFill>
            <a:prstDash val="solid"/>
          </a:ln>
        </p:spPr>
      </p:sp>
      <p:pic>
        <p:nvPicPr>
          <p:cNvPr id="26" name="icon" descr="preencoded.png">    </p:cNvPr>
          <p:cNvPicPr>
            <a:picLocks noChangeAspect="1"/>
          </p:cNvPicPr>
          <p:nvPr/>
        </p:nvPicPr>
        <p:blipFill>
          <a:blip r:embed="rId8"/>
          <a:stretch>
            <a:fillRect/>
          </a:stretch>
        </p:blipFill>
        <p:spPr>
          <a:xfrm>
            <a:off x="8325155" y="4919015"/>
            <a:ext cx="357530" cy="357530"/>
          </a:xfrm>
          <a:prstGeom prst="rect">
            <a:avLst/>
          </a:prstGeom>
        </p:spPr>
      </p:pic>
      <p:sp>
        <p:nvSpPr>
          <p:cNvPr id="27" name="icon circle"/>
          <p:cNvSpPr/>
          <p:nvPr/>
        </p:nvSpPr>
        <p:spPr>
          <a:xfrm>
            <a:off x="9212580" y="4709160"/>
            <a:ext cx="777240" cy="777240"/>
          </a:xfrm>
          <a:prstGeom prst="ellipse">
            <a:avLst/>
          </a:prstGeom>
          <a:solidFill>
            <a:schemeClr val="accent1"/>
          </a:solidFill>
          <a:ln w="12700">
            <a:solidFill>
              <a:schemeClr val="accent1"/>
            </a:solidFill>
            <a:prstDash val="solid"/>
          </a:ln>
        </p:spPr>
      </p:sp>
      <p:pic>
        <p:nvPicPr>
          <p:cNvPr id="28" name="icon" descr="preencoded.png">    </p:cNvPr>
          <p:cNvPicPr>
            <a:picLocks noChangeAspect="1"/>
          </p:cNvPicPr>
          <p:nvPr/>
        </p:nvPicPr>
        <p:blipFill>
          <a:blip r:embed="rId9"/>
          <a:stretch>
            <a:fillRect/>
          </a:stretch>
        </p:blipFill>
        <p:spPr>
          <a:xfrm>
            <a:off x="9422435" y="4919015"/>
            <a:ext cx="357530" cy="357530"/>
          </a:xfrm>
          <a:prstGeom prst="rect">
            <a:avLst/>
          </a:prstGeom>
        </p:spPr>
      </p:pic>
      <p:sp>
        <p:nvSpPr>
          <p:cNvPr id="29" name="icon circle"/>
          <p:cNvSpPr/>
          <p:nvPr/>
        </p:nvSpPr>
        <p:spPr>
          <a:xfrm>
            <a:off x="10309860" y="4709160"/>
            <a:ext cx="777240" cy="777240"/>
          </a:xfrm>
          <a:prstGeom prst="ellipse">
            <a:avLst/>
          </a:prstGeom>
          <a:solidFill>
            <a:schemeClr val="accent1"/>
          </a:solidFill>
          <a:ln w="12700">
            <a:solidFill>
              <a:schemeClr val="accent1"/>
            </a:solidFill>
            <a:prstDash val="solid"/>
          </a:ln>
        </p:spPr>
      </p:sp>
      <p:pic>
        <p:nvPicPr>
          <p:cNvPr id="30" name="icon" descr="preencoded.png">    </p:cNvPr>
          <p:cNvPicPr>
            <a:picLocks noChangeAspect="1"/>
          </p:cNvPicPr>
          <p:nvPr/>
        </p:nvPicPr>
        <p:blipFill>
          <a:blip r:embed="rId10"/>
          <a:stretch>
            <a:fillRect/>
          </a:stretch>
        </p:blipFill>
        <p:spPr>
          <a:xfrm>
            <a:off x="10519715" y="4919015"/>
            <a:ext cx="357530" cy="357530"/>
          </a:xfrm>
          <a:prstGeom prst="rect">
            <a:avLst/>
          </a:prstGeom>
        </p:spPr>
      </p:pic>
      <p:sp>
        <p:nvSpPr>
          <p:cNvPr id="31" name="Text 19"/>
          <p:cNvSpPr txBox="1"/>
          <p:nvPr/>
        </p:nvSpPr>
        <p:spPr>
          <a:xfrm>
            <a:off x="548640" y="4343400"/>
            <a:ext cx="4480560" cy="914400"/>
          </a:xfrm>
          <a:prstGeom prst="rect">
            <a:avLst/>
          </a:prstGeom>
          <a:noFill/>
          <a:ln/>
        </p:spPr>
        <p:txBody>
          <a:bodyPr wrap="square" lIns="0" tIns="0" rIns="0" bIns="0" rtlCol="0" anchor="t"/>
          <a:lstStyle/>
          <a:p>
            <a:pPr indent="0" marL="0">
              <a:buNone/>
            </a:pPr>
            <a:r>
              <a:rPr lang="en-US" sz="1700" b="1" dirty="0">
                <a:solidFill>
                  <a:schemeClr val="accent1"/>
                </a:solidFill>
              </a:rPr>
              <a:t>Tested with heavy traffic: it grew from 2 to 5 copies by itself.</a:t>
            </a:r>
            <a:endParaRPr lang="en-US" sz="17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 live dashboard</a:t>
            </a:r>
            <a:endParaRPr lang="en-US" sz="3600" dirty="0"/>
          </a:p>
        </p:txBody>
      </p:sp>
      <p:sp>
        <p:nvSpPr>
          <p:cNvPr id="3" name="card 12-grafana-dashboard"/>
          <p:cNvSpPr/>
          <p:nvPr/>
        </p:nvSpPr>
        <p:spPr>
          <a:xfrm>
            <a:off x="4407408" y="1344168"/>
            <a:ext cx="7278624" cy="4635703"/>
          </a:xfrm>
          <a:prstGeom prst="roundRect">
            <a:avLst>
              <a:gd name="adj" fmla="val 1973"/>
            </a:avLst>
          </a:prstGeom>
          <a:solidFill>
            <a:schemeClr val="bg1"/>
          </a:solidFill>
          <a:ln w="12700">
            <a:solidFill>
              <a:schemeClr val="bg1"/>
            </a:solidFill>
            <a:prstDash val="solid"/>
          </a:ln>
          <a:effectLst>
            <a:outerShdw sx="100000" sy="100000" kx="0" ky="0" algn="bl" rotWithShape="0" blurRad="177800" dist="38100" dir="5400000">
              <a:srgbClr val="000000">
                <a:alpha val="14000"/>
              </a:srgbClr>
            </a:outerShdw>
          </a:effectLst>
        </p:spPr>
      </p:sp>
      <p:pic>
        <p:nvPicPr>
          <p:cNvPr id="4" name="screenshot 12-grafana-dashboard" descr="grafana dashboard">    </p:cNvPr>
          <p:cNvPicPr>
            <a:picLocks noChangeAspect="1"/>
          </p:cNvPicPr>
          <p:nvPr/>
        </p:nvPicPr>
        <p:blipFill>
          <a:blip r:embed="rId1"/>
          <a:stretch>
            <a:fillRect/>
          </a:stretch>
        </p:blipFill>
        <p:spPr>
          <a:xfrm>
            <a:off x="4480560" y="1417320"/>
            <a:ext cx="7132320" cy="4489399"/>
          </a:xfrm>
          <a:prstGeom prst="rect">
            <a:avLst/>
          </a:prstGeom>
        </p:spPr>
      </p:pic>
      <p:sp>
        <p:nvSpPr>
          <p:cNvPr id="5" name="Text 2"/>
          <p:cNvSpPr txBox="1"/>
          <p:nvPr/>
        </p:nvSpPr>
        <p:spPr>
          <a:xfrm>
            <a:off x="548640" y="1508760"/>
            <a:ext cx="3566160" cy="1371600"/>
          </a:xfrm>
          <a:prstGeom prst="rect">
            <a:avLst/>
          </a:prstGeom>
          <a:noFill/>
          <a:ln/>
        </p:spPr>
        <p:txBody>
          <a:bodyPr wrap="square" lIns="0" tIns="0" rIns="0" bIns="0" rtlCol="0" anchor="t"/>
          <a:lstStyle/>
          <a:p>
            <a:pPr indent="0" marL="0">
              <a:buNone/>
            </a:pPr>
            <a:r>
              <a:rPr lang="en-US" sz="1900" dirty="0">
                <a:solidFill>
                  <a:schemeClr val="tx1"/>
                </a:solidFill>
              </a:rPr>
              <a:t>Like a car's dashboard, it shows at a glance how the app is doing.</a:t>
            </a:r>
            <a:endParaRPr lang="en-US" sz="1900" dirty="0"/>
          </a:p>
        </p:txBody>
      </p:sp>
      <p:sp>
        <p:nvSpPr>
          <p:cNvPr id="6" name="icon circle"/>
          <p:cNvSpPr/>
          <p:nvPr/>
        </p:nvSpPr>
        <p:spPr>
          <a:xfrm>
            <a:off x="548640" y="3063240"/>
            <a:ext cx="548640" cy="54864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2"/>
          <a:stretch>
            <a:fillRect/>
          </a:stretch>
        </p:blipFill>
        <p:spPr>
          <a:xfrm>
            <a:off x="696773" y="3211373"/>
            <a:ext cx="252374" cy="252374"/>
          </a:xfrm>
          <a:prstGeom prst="rect">
            <a:avLst/>
          </a:prstGeom>
        </p:spPr>
      </p:pic>
      <p:sp>
        <p:nvSpPr>
          <p:cNvPr id="8" name="Text 4"/>
          <p:cNvSpPr txBox="1"/>
          <p:nvPr/>
        </p:nvSpPr>
        <p:spPr>
          <a:xfrm>
            <a:off x="1280160" y="3063240"/>
            <a:ext cx="2834640" cy="548640"/>
          </a:xfrm>
          <a:prstGeom prst="rect">
            <a:avLst/>
          </a:prstGeom>
          <a:noFill/>
          <a:ln/>
        </p:spPr>
        <p:txBody>
          <a:bodyPr wrap="square" lIns="0" tIns="0" rIns="0" bIns="0" rtlCol="0" anchor="ctr"/>
          <a:lstStyle/>
          <a:p>
            <a:pPr indent="0" marL="0">
              <a:buNone/>
            </a:pPr>
            <a:r>
              <a:rPr lang="en-US" sz="1700" b="1" dirty="0">
                <a:solidFill>
                  <a:schemeClr val="tx1"/>
                </a:solidFill>
              </a:rPr>
              <a:t>How many visitors</a:t>
            </a:r>
            <a:endParaRPr lang="en-US" sz="1700" dirty="0"/>
          </a:p>
        </p:txBody>
      </p:sp>
      <p:sp>
        <p:nvSpPr>
          <p:cNvPr id="9" name="icon circle"/>
          <p:cNvSpPr/>
          <p:nvPr/>
        </p:nvSpPr>
        <p:spPr>
          <a:xfrm>
            <a:off x="548640" y="3931920"/>
            <a:ext cx="548640" cy="54864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3"/>
          <a:stretch>
            <a:fillRect/>
          </a:stretch>
        </p:blipFill>
        <p:spPr>
          <a:xfrm>
            <a:off x="696773" y="4080053"/>
            <a:ext cx="252374" cy="252374"/>
          </a:xfrm>
          <a:prstGeom prst="rect">
            <a:avLst/>
          </a:prstGeom>
        </p:spPr>
      </p:pic>
      <p:sp>
        <p:nvSpPr>
          <p:cNvPr id="11" name="Text 6"/>
          <p:cNvSpPr txBox="1"/>
          <p:nvPr/>
        </p:nvSpPr>
        <p:spPr>
          <a:xfrm>
            <a:off x="1280160" y="3931920"/>
            <a:ext cx="2834640" cy="548640"/>
          </a:xfrm>
          <a:prstGeom prst="rect">
            <a:avLst/>
          </a:prstGeom>
          <a:noFill/>
          <a:ln/>
        </p:spPr>
        <p:txBody>
          <a:bodyPr wrap="square" lIns="0" tIns="0" rIns="0" bIns="0" rtlCol="0" anchor="ctr"/>
          <a:lstStyle/>
          <a:p>
            <a:pPr indent="0" marL="0">
              <a:buNone/>
            </a:pPr>
            <a:r>
              <a:rPr lang="en-US" sz="1700" b="1" dirty="0">
                <a:solidFill>
                  <a:schemeClr val="tx1"/>
                </a:solidFill>
              </a:rPr>
              <a:t>How fast it responds</a:t>
            </a:r>
            <a:endParaRPr lang="en-US" sz="1700" dirty="0"/>
          </a:p>
        </p:txBody>
      </p:sp>
      <p:sp>
        <p:nvSpPr>
          <p:cNvPr id="12" name="icon circle"/>
          <p:cNvSpPr/>
          <p:nvPr/>
        </p:nvSpPr>
        <p:spPr>
          <a:xfrm>
            <a:off x="548640" y="4800600"/>
            <a:ext cx="548640" cy="548640"/>
          </a:xfrm>
          <a:prstGeom prst="ellipse">
            <a:avLst/>
          </a:prstGeom>
          <a:solidFill>
            <a:schemeClr val="accent1"/>
          </a:solidFill>
          <a:ln w="12700">
            <a:solidFill>
              <a:schemeClr val="accent1"/>
            </a:solidFill>
            <a:prstDash val="solid"/>
          </a:ln>
        </p:spPr>
      </p:sp>
      <p:pic>
        <p:nvPicPr>
          <p:cNvPr id="13" name="icon" descr="preencoded.png">    </p:cNvPr>
          <p:cNvPicPr>
            <a:picLocks noChangeAspect="1"/>
          </p:cNvPicPr>
          <p:nvPr/>
        </p:nvPicPr>
        <p:blipFill>
          <a:blip r:embed="rId4"/>
          <a:stretch>
            <a:fillRect/>
          </a:stretch>
        </p:blipFill>
        <p:spPr>
          <a:xfrm>
            <a:off x="696773" y="4948733"/>
            <a:ext cx="252374" cy="252374"/>
          </a:xfrm>
          <a:prstGeom prst="rect">
            <a:avLst/>
          </a:prstGeom>
        </p:spPr>
      </p:pic>
      <p:sp>
        <p:nvSpPr>
          <p:cNvPr id="14" name="Text 8"/>
          <p:cNvSpPr txBox="1"/>
          <p:nvPr/>
        </p:nvSpPr>
        <p:spPr>
          <a:xfrm>
            <a:off x="1280160" y="4800600"/>
            <a:ext cx="2834640" cy="548640"/>
          </a:xfrm>
          <a:prstGeom prst="rect">
            <a:avLst/>
          </a:prstGeom>
          <a:noFill/>
          <a:ln/>
        </p:spPr>
        <p:txBody>
          <a:bodyPr wrap="square" lIns="0" tIns="0" rIns="0" bIns="0" rtlCol="0" anchor="ctr"/>
          <a:lstStyle/>
          <a:p>
            <a:pPr indent="0" marL="0">
              <a:buNone/>
            </a:pPr>
            <a:r>
              <a:rPr lang="en-US" sz="1700" b="1" dirty="0">
                <a:solidFill>
                  <a:schemeClr val="tx1"/>
                </a:solidFill>
              </a:rPr>
              <a:t>Any errors</a:t>
            </a:r>
            <a:endParaRPr lang="en-US" sz="17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What I learned</a:t>
            </a:r>
            <a:endParaRPr lang="en-US" sz="3600" dirty="0"/>
          </a:p>
        </p:txBody>
      </p:sp>
      <p:sp>
        <p:nvSpPr>
          <p:cNvPr id="3" name="lesson card"/>
          <p:cNvSpPr/>
          <p:nvPr/>
        </p:nvSpPr>
        <p:spPr>
          <a:xfrm>
            <a:off x="548640" y="1600200"/>
            <a:ext cx="3520440" cy="3566160"/>
          </a:xfrm>
          <a:prstGeom prst="roundRect">
            <a:avLst>
              <a:gd name="adj" fmla="val 3636"/>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4" name="icon circle"/>
          <p:cNvSpPr/>
          <p:nvPr/>
        </p:nvSpPr>
        <p:spPr>
          <a:xfrm>
            <a:off x="914400" y="1965960"/>
            <a:ext cx="777240" cy="77724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124255" y="2175815"/>
            <a:ext cx="357530" cy="357530"/>
          </a:xfrm>
          <a:prstGeom prst="rect">
            <a:avLst/>
          </a:prstGeom>
        </p:spPr>
      </p:pic>
      <p:sp>
        <p:nvSpPr>
          <p:cNvPr id="6" name="Text 3"/>
          <p:cNvSpPr txBox="1"/>
          <p:nvPr/>
        </p:nvSpPr>
        <p:spPr>
          <a:xfrm>
            <a:off x="914400" y="2971800"/>
            <a:ext cx="2834640" cy="777240"/>
          </a:xfrm>
          <a:prstGeom prst="rect">
            <a:avLst/>
          </a:prstGeom>
          <a:noFill/>
          <a:ln/>
        </p:spPr>
        <p:txBody>
          <a:bodyPr wrap="square" lIns="0" tIns="0" rIns="0" bIns="0" rtlCol="0" anchor="t"/>
          <a:lstStyle/>
          <a:p>
            <a:pPr indent="0" marL="0">
              <a:buNone/>
            </a:pPr>
            <a:r>
              <a:rPr lang="en-US" sz="2100" b="1" dirty="0">
                <a:solidFill>
                  <a:schemeClr val="tx1"/>
                </a:solidFill>
                <a:latin typeface="Georgia" pitchFamily="34" charset="0"/>
                <a:ea typeface="Georgia" pitchFamily="34" charset="-122"/>
                <a:cs typeface="Georgia" pitchFamily="34" charset="-120"/>
              </a:rPr>
              <a:t>Let machines do the routine</a:t>
            </a:r>
            <a:endParaRPr lang="en-US" sz="2100" dirty="0"/>
          </a:p>
        </p:txBody>
      </p:sp>
      <p:sp>
        <p:nvSpPr>
          <p:cNvPr id="7" name="Text 4"/>
          <p:cNvSpPr txBox="1"/>
          <p:nvPr/>
        </p:nvSpPr>
        <p:spPr>
          <a:xfrm>
            <a:off x="914400" y="3794760"/>
            <a:ext cx="2834640" cy="1097280"/>
          </a:xfrm>
          <a:prstGeom prst="rect">
            <a:avLst/>
          </a:prstGeom>
          <a:noFill/>
          <a:ln/>
        </p:spPr>
        <p:txBody>
          <a:bodyPr wrap="square" lIns="0" tIns="0" rIns="0" bIns="0" rtlCol="0" anchor="t"/>
          <a:lstStyle/>
          <a:p>
            <a:pPr indent="0" marL="0">
              <a:buNone/>
            </a:pPr>
            <a:r>
              <a:rPr lang="en-US" sz="1600" dirty="0">
                <a:solidFill>
                  <a:schemeClr val="tx2"/>
                </a:solidFill>
              </a:rPr>
              <a:t>A pipeline never forgets a step, even on a Friday evening.</a:t>
            </a:r>
            <a:endParaRPr lang="en-US" sz="1600" dirty="0"/>
          </a:p>
        </p:txBody>
      </p:sp>
      <p:sp>
        <p:nvSpPr>
          <p:cNvPr id="8" name="lesson card"/>
          <p:cNvSpPr/>
          <p:nvPr/>
        </p:nvSpPr>
        <p:spPr>
          <a:xfrm>
            <a:off x="4334256" y="1600200"/>
            <a:ext cx="3520440" cy="3566160"/>
          </a:xfrm>
          <a:prstGeom prst="roundRect">
            <a:avLst>
              <a:gd name="adj" fmla="val 3636"/>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9" name="icon circle"/>
          <p:cNvSpPr/>
          <p:nvPr/>
        </p:nvSpPr>
        <p:spPr>
          <a:xfrm>
            <a:off x="4700016" y="1965960"/>
            <a:ext cx="777240" cy="77724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4909871" y="2175815"/>
            <a:ext cx="357530" cy="357530"/>
          </a:xfrm>
          <a:prstGeom prst="rect">
            <a:avLst/>
          </a:prstGeom>
        </p:spPr>
      </p:pic>
      <p:sp>
        <p:nvSpPr>
          <p:cNvPr id="11" name="Text 7"/>
          <p:cNvSpPr txBox="1"/>
          <p:nvPr/>
        </p:nvSpPr>
        <p:spPr>
          <a:xfrm>
            <a:off x="4700016" y="2971800"/>
            <a:ext cx="2834640" cy="777240"/>
          </a:xfrm>
          <a:prstGeom prst="rect">
            <a:avLst/>
          </a:prstGeom>
          <a:noFill/>
          <a:ln/>
        </p:spPr>
        <p:txBody>
          <a:bodyPr wrap="square" lIns="0" tIns="0" rIns="0" bIns="0" rtlCol="0" anchor="t"/>
          <a:lstStyle/>
          <a:p>
            <a:pPr indent="0" marL="0">
              <a:buNone/>
            </a:pPr>
            <a:r>
              <a:rPr lang="en-US" sz="2100" b="1" dirty="0">
                <a:solidFill>
                  <a:schemeClr val="tx1"/>
                </a:solidFill>
                <a:latin typeface="Georgia" pitchFamily="34" charset="0"/>
                <a:ea typeface="Georgia" pitchFamily="34" charset="-122"/>
                <a:cs typeface="Georgia" pitchFamily="34" charset="-120"/>
              </a:rPr>
              <a:t>Keep every version</a:t>
            </a:r>
            <a:endParaRPr lang="en-US" sz="2100" dirty="0"/>
          </a:p>
        </p:txBody>
      </p:sp>
      <p:sp>
        <p:nvSpPr>
          <p:cNvPr id="12" name="Text 8"/>
          <p:cNvSpPr txBox="1"/>
          <p:nvPr/>
        </p:nvSpPr>
        <p:spPr>
          <a:xfrm>
            <a:off x="4700016" y="3794760"/>
            <a:ext cx="2834640" cy="1097280"/>
          </a:xfrm>
          <a:prstGeom prst="rect">
            <a:avLst/>
          </a:prstGeom>
          <a:noFill/>
          <a:ln/>
        </p:spPr>
        <p:txBody>
          <a:bodyPr wrap="square" lIns="0" tIns="0" rIns="0" bIns="0" rtlCol="0" anchor="t"/>
          <a:lstStyle/>
          <a:p>
            <a:pPr indent="0" marL="0">
              <a:buNone/>
            </a:pPr>
            <a:r>
              <a:rPr lang="en-US" sz="1600" dirty="0">
                <a:solidFill>
                  <a:schemeClr val="tx2"/>
                </a:solidFill>
              </a:rPr>
              <a:t>Knowing exactly what's live makes problems quick to fix.</a:t>
            </a:r>
            <a:endParaRPr lang="en-US" sz="1600" dirty="0"/>
          </a:p>
        </p:txBody>
      </p:sp>
      <p:sp>
        <p:nvSpPr>
          <p:cNvPr id="13" name="lesson card"/>
          <p:cNvSpPr/>
          <p:nvPr/>
        </p:nvSpPr>
        <p:spPr>
          <a:xfrm>
            <a:off x="8119872" y="1600200"/>
            <a:ext cx="3520440" cy="3566160"/>
          </a:xfrm>
          <a:prstGeom prst="roundRect">
            <a:avLst>
              <a:gd name="adj" fmla="val 3636"/>
            </a:avLst>
          </a:prstGeom>
          <a:solidFill>
            <a:schemeClr val="bg1"/>
          </a:solidFill>
          <a:ln w="12700">
            <a:solidFill>
              <a:schemeClr val="bg1"/>
            </a:solidFill>
            <a:prstDash val="solid"/>
          </a:ln>
          <a:effectLst>
            <a:outerShdw sx="100000" sy="100000" kx="0" ky="0" algn="bl" rotWithShape="0" blurRad="177800" dist="38100" dir="5400000">
              <a:srgbClr val="000000">
                <a:alpha val="10000"/>
              </a:srgbClr>
            </a:outerShdw>
          </a:effectLst>
        </p:spPr>
      </p:sp>
      <p:sp>
        <p:nvSpPr>
          <p:cNvPr id="14" name="icon circle"/>
          <p:cNvSpPr/>
          <p:nvPr/>
        </p:nvSpPr>
        <p:spPr>
          <a:xfrm>
            <a:off x="8485632" y="1965960"/>
            <a:ext cx="777240" cy="777240"/>
          </a:xfrm>
          <a:prstGeom prst="ellipse">
            <a:avLst/>
          </a:prstGeom>
          <a:solidFill>
            <a:schemeClr val="accent2"/>
          </a:solidFill>
          <a:ln w="12700">
            <a:solidFill>
              <a:schemeClr val="accent2"/>
            </a:solidFill>
            <a:prstDash val="solid"/>
          </a:ln>
        </p:spPr>
      </p:sp>
      <p:pic>
        <p:nvPicPr>
          <p:cNvPr id="15" name="icon" descr="preencoded.png">    </p:cNvPr>
          <p:cNvPicPr>
            <a:picLocks noChangeAspect="1"/>
          </p:cNvPicPr>
          <p:nvPr/>
        </p:nvPicPr>
        <p:blipFill>
          <a:blip r:embed="rId3"/>
          <a:stretch>
            <a:fillRect/>
          </a:stretch>
        </p:blipFill>
        <p:spPr>
          <a:xfrm>
            <a:off x="8695487" y="2175815"/>
            <a:ext cx="357530" cy="357530"/>
          </a:xfrm>
          <a:prstGeom prst="rect">
            <a:avLst/>
          </a:prstGeom>
        </p:spPr>
      </p:pic>
      <p:sp>
        <p:nvSpPr>
          <p:cNvPr id="16" name="Text 11"/>
          <p:cNvSpPr txBox="1"/>
          <p:nvPr/>
        </p:nvSpPr>
        <p:spPr>
          <a:xfrm>
            <a:off x="8485632" y="2971800"/>
            <a:ext cx="2834640" cy="777240"/>
          </a:xfrm>
          <a:prstGeom prst="rect">
            <a:avLst/>
          </a:prstGeom>
          <a:noFill/>
          <a:ln/>
        </p:spPr>
        <p:txBody>
          <a:bodyPr wrap="square" lIns="0" tIns="0" rIns="0" bIns="0" rtlCol="0" anchor="t"/>
          <a:lstStyle/>
          <a:p>
            <a:pPr indent="0" marL="0">
              <a:buNone/>
            </a:pPr>
            <a:r>
              <a:rPr lang="en-US" sz="2100" b="1" dirty="0">
                <a:solidFill>
                  <a:schemeClr val="tx1"/>
                </a:solidFill>
                <a:latin typeface="Georgia" pitchFamily="34" charset="0"/>
                <a:ea typeface="Georgia" pitchFamily="34" charset="-122"/>
                <a:cs typeface="Georgia" pitchFamily="34" charset="-120"/>
              </a:rPr>
              <a:t>Switch off what you don't use</a:t>
            </a:r>
            <a:endParaRPr lang="en-US" sz="2100" dirty="0"/>
          </a:p>
        </p:txBody>
      </p:sp>
      <p:sp>
        <p:nvSpPr>
          <p:cNvPr id="17" name="Text 12"/>
          <p:cNvSpPr txBox="1"/>
          <p:nvPr/>
        </p:nvSpPr>
        <p:spPr>
          <a:xfrm>
            <a:off x="8485632" y="3794760"/>
            <a:ext cx="2834640" cy="1097280"/>
          </a:xfrm>
          <a:prstGeom prst="rect">
            <a:avLst/>
          </a:prstGeom>
          <a:noFill/>
          <a:ln/>
        </p:spPr>
        <p:txBody>
          <a:bodyPr wrap="square" lIns="0" tIns="0" rIns="0" bIns="0" rtlCol="0" anchor="t"/>
          <a:lstStyle/>
          <a:p>
            <a:pPr indent="0" marL="0">
              <a:buNone/>
            </a:pPr>
            <a:r>
              <a:rPr lang="en-US" sz="1600" dirty="0">
                <a:solidFill>
                  <a:schemeClr val="tx2"/>
                </a:solidFill>
              </a:rPr>
              <a:t>The cloud bills by the hour. Build it, use it, remove it.</a:t>
            </a:r>
            <a:endParaRPr lang="en-US" sz="1600" dirty="0"/>
          </a:p>
        </p:txBody>
      </p:sp>
      <p:sp>
        <p:nvSpPr>
          <p:cNvPr id="25" name="Slide Number Placeholder 0"/>
          <p:cNvSpPr>
            <a:spLocks noGrp="1"/>
          </p:cNvSpPr>
          <p:nvPr>
            <p:ph type="sldNum" sz="quarter" idx="4294967295"/>
          </p:nvPr>
        </p:nvSpPr>
        <p:spPr>
          <a:xfrm>
            <a:off x="112928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icon circle"/>
          <p:cNvSpPr/>
          <p:nvPr/>
        </p:nvSpPr>
        <p:spPr>
          <a:xfrm>
            <a:off x="5592928" y="1325880"/>
            <a:ext cx="1005840" cy="1005840"/>
          </a:xfrm>
          <a:prstGeom prst="ellipse">
            <a:avLst/>
          </a:prstGeom>
          <a:solidFill>
            <a:schemeClr val="accent1"/>
          </a:solidFill>
          <a:ln w="12700">
            <a:solidFill>
              <a:schemeClr val="accent1"/>
            </a:solidFill>
            <a:prstDash val="solid"/>
          </a:ln>
        </p:spPr>
      </p:sp>
      <p:pic>
        <p:nvPicPr>
          <p:cNvPr id="3" name="icon" descr="preencoded.png">    </p:cNvPr>
          <p:cNvPicPr>
            <a:picLocks noChangeAspect="1"/>
          </p:cNvPicPr>
          <p:nvPr/>
        </p:nvPicPr>
        <p:blipFill>
          <a:blip r:embed="rId1"/>
          <a:stretch>
            <a:fillRect/>
          </a:stretch>
        </p:blipFill>
        <p:spPr>
          <a:xfrm>
            <a:off x="5864504" y="1597457"/>
            <a:ext cx="462686" cy="462686"/>
          </a:xfrm>
          <a:prstGeom prst="rect">
            <a:avLst/>
          </a:prstGeom>
        </p:spPr>
      </p:pic>
      <p:sp>
        <p:nvSpPr>
          <p:cNvPr id="4" name="Text 0"/>
          <p:cNvSpPr/>
          <p:nvPr>
            <p:ph idx="100" type="title" hasCustomPrompt="1"/>
          </p:nvPr>
        </p:nvSpPr>
        <p:spPr>
          <a:xfrm>
            <a:off x="1371600" y="2606040"/>
            <a:ext cx="9445752" cy="1005840"/>
          </a:xfrm>
          <a:prstGeom prst="rect">
            <a:avLst/>
          </a:prstGeom>
          <a:noFill/>
          <a:ln/>
        </p:spPr>
        <p:txBody>
          <a:bodyPr wrap="square" lIns="0" tIns="0" rIns="0" bIns="0" rtlCol="0" anchor="ctr"/>
          <a:lstStyle/>
          <a:p>
            <a:pPr algn="ctr" indent="0" marL="0">
              <a:buNone/>
            </a:pPr>
            <a:r>
              <a:rPr lang="en-US" sz="5600" b="1" dirty="0">
                <a:solidFill>
                  <a:schemeClr val="bg1"/>
                </a:solidFill>
              </a:rPr>
              <a:t>Thank you</a:t>
            </a:r>
            <a:endParaRPr lang="en-US" sz="5600" dirty="0"/>
          </a:p>
        </p:txBody>
      </p:sp>
      <p:sp>
        <p:nvSpPr>
          <p:cNvPr id="5" name="Text 0"/>
          <p:cNvSpPr/>
          <p:nvPr>
            <p:ph idx="101" type="body" hasCustomPrompt="1"/>
          </p:nvPr>
        </p:nvSpPr>
        <p:spPr>
          <a:xfrm>
            <a:off x="1371600" y="3749040"/>
            <a:ext cx="9445752" cy="548640"/>
          </a:xfrm>
          <a:prstGeom prst="rect">
            <a:avLst/>
          </a:prstGeom>
          <a:noFill/>
          <a:ln/>
        </p:spPr>
        <p:txBody>
          <a:bodyPr wrap="square" lIns="0" tIns="0" rIns="0" bIns="0" rtlCol="0" anchor="t"/>
          <a:lstStyle/>
          <a:p>
            <a:pPr algn="ctr" indent="0" marL="0">
              <a:buNone/>
            </a:pPr>
            <a:r>
              <a:rPr lang="en-US" sz="2100" dirty="0">
                <a:solidFill>
                  <a:schemeClr val="accent5"/>
                </a:solidFill>
              </a:rPr>
              <a:t>Now let's see it live: one small change, all the way to the app.</a:t>
            </a:r>
            <a:endParaRPr lang="en-US" sz="2100" dirty="0"/>
          </a:p>
        </p:txBody>
      </p:sp>
      <p:sp>
        <p:nvSpPr>
          <p:cNvPr id="6" name="Text 3"/>
          <p:cNvSpPr txBox="1"/>
          <p:nvPr/>
        </p:nvSpPr>
        <p:spPr>
          <a:xfrm>
            <a:off x="1371600" y="4983480"/>
            <a:ext cx="9445752" cy="731520"/>
          </a:xfrm>
          <a:prstGeom prst="rect">
            <a:avLst/>
          </a:prstGeom>
          <a:noFill/>
          <a:ln/>
        </p:spPr>
        <p:txBody>
          <a:bodyPr wrap="square" lIns="0" tIns="0" rIns="0" bIns="0" rtlCol="0" anchor="ctr"/>
          <a:lstStyle/>
          <a:p>
            <a:pPr algn="ctr" indent="0" marL="0">
              <a:spcAft>
                <a:spcPts val="400"/>
              </a:spcAft>
              <a:buNone/>
            </a:pPr>
            <a:r>
              <a:rPr lang="en-US" sz="1500" b="1" dirty="0">
                <a:solidFill>
                  <a:schemeClr val="bg1"/>
                </a:solidFill>
              </a:rPr>
              <a:t>Ashutosh Kumar  ·  24bcs10111</a:t>
            </a:r>
            <a:endParaRPr lang="en-US" sz="1500" dirty="0"/>
          </a:p>
          <a:p>
            <a:pPr algn="ctr" indent="0" marL="0">
              <a:spcAft>
                <a:spcPts val="400"/>
              </a:spcAft>
              <a:buNone/>
            </a:pPr>
            <a:r>
              <a:rPr lang="en-US" sz="1400" dirty="0">
                <a:solidFill>
                  <a:schemeClr val="accent4"/>
                </a:solidFill>
              </a:rPr>
              <a:t>github.com/THE-ASHUTOSH/shopadmin-capstone</a:t>
            </a:r>
            <a:endParaRPr lang="en-US" sz="1500" dirty="0"/>
          </a:p>
        </p:txBody>
      </p:sp>
    </p:spTree>
  </p:cSld>
  <p:clrMapOvr>
    <a:masterClrMapping/>
  </p:clrMapOvr>
</p:sld>
</file>

<file path=ppt/theme/theme1.xml><?xml version="1.0" encoding="utf-8"?>
<a:theme xmlns:a="http://schemas.openxmlformats.org/drawingml/2006/main" name="ShopAdmin Fresh">
  <a:themeElements>
    <a:clrScheme name="ShopAdmin Fresh">
      <a:dk1>
        <a:srgbClr val="12343B"/>
      </a:dk1>
      <a:lt1>
        <a:srgbClr val="FFFFFF"/>
      </a:lt1>
      <a:dk2>
        <a:srgbClr val="5B6B70"/>
      </a:dk2>
      <a:lt2>
        <a:srgbClr val="F2F6F5"/>
      </a:lt2>
      <a:accent1>
        <a:srgbClr val="E9724C"/>
      </a:accent1>
      <a:accent2>
        <a:srgbClr val="2BA58B"/>
      </a:accent2>
      <a:accent3>
        <a:srgbClr val="F4B860"/>
      </a:accent3>
      <a:accent4>
        <a:srgbClr val="F9C9B6"/>
      </a:accent4>
      <a:accent5>
        <a:srgbClr val="C9D6D3"/>
      </a:accent5>
      <a:accent6>
        <a:srgbClr val="FCE6DD"/>
      </a:accent6>
      <a:hlink>
        <a:srgbClr val="E9724C"/>
      </a:hlink>
      <a:folHlink>
        <a:srgbClr val="C4542F"/>
      </a:folHlink>
    </a:clrScheme>
    <a:fontScheme name="ShopAdmin Fresh">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ShopAdmin - DevOps Capstone</dc:title>
  <dc:subject>PptxGenJS Presentation</dc:subject>
  <dc:creator>Ashutosh Kumar</dc:creator>
  <cp:lastModifiedBy>Ashutosh Kumar</cp:lastModifiedBy>
  <cp:revision>1</cp:revision>
  <dcterms:created xsi:type="dcterms:W3CDTF">2026-10-18T19:08:39Z</dcterms:created>
  <dcterms:modified xsi:type="dcterms:W3CDTF">2026-10-18T19:08:39Z</dcterms:modified>
</cp:coreProperties>
</file>